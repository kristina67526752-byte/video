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8.xml" ContentType="application/vnd.openxmlformats-officedocument.presentationml.slide+xml"/>
  <Override ContentType="application/vnd.openxmlformats-officedocument.presentationml.notesSlide+xml" PartName="/ppt/notesSlides/notesSlide18.xml"/>
  <Override PartName="/ppt/slides/slide19.xml" ContentType="application/vnd.openxmlformats-officedocument.presentationml.slide+xml"/>
  <Override ContentType="application/vnd.openxmlformats-officedocument.presentationml.notesSlide+xml" PartName="/ppt/notesSlides/notesSlide19.xml"/>
  <Override PartName="/ppt/slides/slide20.xml" ContentType="application/vnd.openxmlformats-officedocument.presentationml.slide+xml"/>
  <Override ContentType="application/vnd.openxmlformats-officedocument.presentationml.notesSlide+xml" PartName="/ppt/notesSlides/notesSlide20.xml"/>
  <Override PartName="/ppt/slides/slide21.xml" ContentType="application/vnd.openxmlformats-officedocument.presentationml.slide+xml"/>
  <Override ContentType="application/vnd.openxmlformats-officedocument.presentationml.notesSlide+xml" PartName="/ppt/notesSlides/notesSlide21.xml"/>
  <Override PartName="/ppt/slides/slide22.xml" ContentType="application/vnd.openxmlformats-officedocument.presentationml.slide+xml"/>
  <Override ContentType="application/vnd.openxmlformats-officedocument.presentationml.notesSlide+xml" PartName="/ppt/notesSlides/notesSlide2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3" r:id="rId30"/>
    <p:sldId id="274" r:id="rId31"/>
    <p:sldId id="275" r:id="rId32"/>
    <p:sldId id="276" r:id="rId33"/>
    <p:sldId id="277" r:id="rId34"/>
    <p:sldId id="272" r:id="rId22"/>
  </p:sldIdLst>
  <p:sldSz cy="5143500" cx="9144000"/>
  <p:notesSz cx="6858000" cy="9144000"/>
  <p:embeddedFontLst>
    <p:embeddedFont>
      <p:font typeface="Golos Text"/>
      <p:regular r:id="rId23"/>
      <p:bold r:id="rId24"/>
    </p:embeddedFont>
    <p:embeddedFont>
      <p:font typeface="Comfortaa SemiBold"/>
      <p:regular r:id="rId25"/>
      <p:bold r:id="rId26"/>
    </p:embeddedFont>
    <p:embeddedFont>
      <p:font typeface="Golos Text SemiBold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hGwCNj16G+A5RzvglxM7/NyKMR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1" orient="horz"/>
        <p:guide pos="2874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GolosText-bold.fntdata"/><Relationship Id="rId23" Type="http://schemas.openxmlformats.org/officeDocument/2006/relationships/font" Target="fonts/GolosTex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omfortaaSemiBold-bold.fntdata"/><Relationship Id="rId25" Type="http://schemas.openxmlformats.org/officeDocument/2006/relationships/font" Target="fonts/ComfortaaSemiBold-regular.fntdata"/><Relationship Id="rId28" Type="http://schemas.openxmlformats.org/officeDocument/2006/relationships/font" Target="fonts/GolosTextSemiBold-bold.fntdata"/><Relationship Id="rId27" Type="http://schemas.openxmlformats.org/officeDocument/2006/relationships/font" Target="fonts/GolosText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  <Relationship Id="rId30" Type="http://schemas.openxmlformats.org/officeDocument/2006/relationships/slide" Target="slides/slide18.xml"/>
  <Relationship Id="rId31" Type="http://schemas.openxmlformats.org/officeDocument/2006/relationships/slide" Target="slides/slide19.xml"/>
  <Relationship Id="rId32" Type="http://schemas.openxmlformats.org/officeDocument/2006/relationships/slide" Target="slides/slide20.xml"/>
  <Relationship Id="rId33" Type="http://schemas.openxmlformats.org/officeDocument/2006/relationships/slide" Target="slides/slide21.xml"/>
  <Relationship Id="rId34" Type="http://schemas.openxmlformats.org/officeDocument/2006/relationships/slide" Target="slides/slide22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5bc0d5b59e3c6e1f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h5bc0d5b59e3c6e1f_1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h4457c8ad753bcbb7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h4457c8ad753bcbb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h4457c8ad753bcbb7_0_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4820cdf94a74d4e4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h4820cdf94a74d4e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h4820cdf94a74d4e4_0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4820cdf94a74d4e4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h4820cdf94a74d4e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h4820cdf94a74d4e4_0_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h4820cdf94a74d4e4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h4820cdf94a74d4e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h4820cdf94a74d4e4_0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h4820cdf94a74d4e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h4820cdf94a74d4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h4820cdf94a74d4e4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h4820cdf94a74d4e4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h4820cdf94a74d4e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h4820cdf94a74d4e4_0_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4820cdf94a74d4e4_0_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h4820cdf94a74d4e4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h4820cdf94a74d4e4_0_9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h4820cdf94a74d4e4_0_1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h4820cdf94a74d4e4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h4820cdf94a74d4e4_0_16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h4820cdf94a74d4e4_0_2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h4820cdf94a74d4e4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h4820cdf94a74d4e4_0_2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ru-RU" sz="1200" dirty="0"/>
              <a:t>Неожиданный вывод №1: на пьедестале в основном не таланты.</a:t>
            </a:r>
          </a:p>
          <a:p>
            <a:pPr marL="0" indent="0">
              <a:buNone/>
            </a:pPr>
            <a:r>
              <a:rPr lang="ru-RU" sz="1200" dirty="0"/>
              <a:t>Берём ту же модель, что и раньше: 1000 участников, 10 талантов с p = 0,75 и 990 обычных с p = 0,6, тест из 20 вопросов. На графике — сколько человек в среднем набирает каждое число баллов, это N·C(n,k)·p^k·q^(n−k) (шкала логарифмическая). Каждый талант по отдельности сильнее, но обычных в 99 раз больше, и в призовой зоне (17 баллов и выше) их в среднем около 16 против двух-трёх талантов. Это и есть мем: пьедестал «выбирает» не десять сильных, а 990 лотерейных билетов.</a:t>
            </a:r>
          </a:p>
          <a:p>
            <a:pPr marL="0" indent="0">
              <a:buNone/>
            </a:pPr>
            <a:r>
              <a:rPr lang="ru-RU" sz="1200" dirty="0"/>
              <a:t>Точный расчёт через распределение максимума (ничьи — жребием): победитель оказывается обычным участником с вероятностью 0,74. Отдельный талант выигрывает в 35 раз чаще отдельного обычного участника, но этого не хватает, чтобы перевесить их численность. В топ-10 в среднем попадают лишь 1,5 таланта, остальные 8,5 остаются незамеченными.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ru-RU" sz="1200" dirty="0"/>
              <a:t>Вывод №2: проклятие победителя. Победителем становится тот, кому повезло сильнее всех, поэтому его результат систематически завышает способности. Мы видим «19 из 20» и спрашиваем: это гений?</a:t>
            </a:r>
          </a:p>
          <a:p>
            <a:pPr marL="0" indent="0">
              <a:buNone/>
            </a:pPr>
            <a:r>
              <a:rPr lang="ru-RU" sz="1200" dirty="0"/>
              <a:t>При 20 вопросах победитель отвечает в среднем на 93% вопросов, а его настоящая вероятность правильного ответа в среднем всего 64%: ведь в трёх случаях из четырёх это обычный участник с p = 0,6.</a:t>
            </a:r>
          </a:p>
          <a:p>
            <a:pPr marL="0" indent="0">
              <a:buNone/>
            </a:pPr>
            <a:r>
              <a:rPr lang="ru-RU" sz="1200" dirty="0"/>
              <a:t>Откуда такой высокий балл? Даже если все 1000 участников одинаковы, лучший результат можно оценить по интегральной теореме Муавра–Лапласа: k_max ≈ np + z·√(npq), где z находим из условия 1 − Φ(z) = 1/N, то есть в среднем ровно один человек из N забирается так высоко. При p = 0,6 получаем 12 + 3,09·2,19 ≈ 18,8 из 20 — это 94% при способности 60% (точный расчёт даёт 18,4).</a:t>
            </a:r>
          </a:p>
          <a:p>
            <a:pPr marL="0" indent="0">
              <a:buNone/>
            </a:pPr>
            <a:r>
              <a:rPr lang="ru-RU" sz="1200" dirty="0"/>
              <a:t>На графике видно, что с ростом длины теста завышение тает: разброс доли верных ответов падает как √(pq/n). Но при 20 вопросах оно огромно.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ru-RU" sz="1200" dirty="0"/>
              <a:t>Вывод №3: регрессия к среднему. Представим балл как способность плюс удача: X = np + ε, где удача в среднем нулевая.</a:t>
            </a:r>
          </a:p>
          <a:p>
            <a:pPr marL="0" indent="0">
              <a:buNone/>
            </a:pPr>
            <a:r>
              <a:rPr lang="ru-RU" sz="1200" dirty="0"/>
              <a:t>Отбирая лучших в первом туре, мы отбираем и способных, и везучих: у них ε₁ заметно больше нуля. Но во втором туре удача новая, и для тех же людей M(ε₂) = 0. Поэтому топ-10 в среднем падает с 17,5 до 12,4 балла, а победитель — с 18,6 до 12,8, почти до уровня обычного участника: был качком-доге, стал Чимсом.</a:t>
            </a:r>
          </a:p>
          <a:p>
            <a:pPr marL="0" indent="0">
              <a:buNone/>
            </a:pPr>
            <a:r>
              <a:rPr lang="ru-RU" sz="1200" dirty="0"/>
              <a:t>Победитель первого тура выигрывает и второй лишь в 0,7% случаев, хотя талантом он оказывается в 26% случаев. Это не «звёздная болезнь» и не расслабленность: так ведёт себя любая величина, в которой есть случайная часть. Если бы все участники были одинаковы, шанс повторной победы был бы ровно 1/1000.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ru-RU" sz="1200" dirty="0"/>
              <a:t>Вывод №4: ошибка выжившего. 1000 трейдеров 10 дней угадывают направление рынка честной монеткой. Каждый день выбывает примерно половина, и в среднем 1000·2^(−10) ≈ 0,98 человека угадают все 10 дней; вероятность, что такой найдётся хотя бы один, — 0,62.</a:t>
            </a:r>
          </a:p>
          <a:p>
            <a:pPr marL="0" indent="0">
              <a:buNone/>
            </a:pPr>
            <a:r>
              <a:rPr lang="ru-RU" sz="1200" dirty="0"/>
              <a:t>Именно у него возьмут интервью о «безошибочной стратегии», а 999 остальных в кадр не попадут. Как с самолётами Вальда: пробоины мы видим только у вернувшихся, поэтому бронировать надо как раз те места, где дыр нет. Или бросившие университет, которые не стали миллиардерами.</a:t>
            </a:r>
          </a:p>
          <a:p>
            <a:pPr marL="0" indent="0">
              <a:buNone/>
            </a:pPr>
            <a:r>
              <a:rPr lang="ru-RU" sz="1200" dirty="0"/>
              <a:t>Добавим в группу одного настоящего таланта, который угадывает с вероятностью 0,75. По формуле Байеса шанс, что герой с результатом 10 из 10 — именно он, всего около 5%. Выдающийся результат, найденный среди множества попыток, почти ничего не доказывает.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ru-RU" sz="1200" dirty="0"/>
              <a:t>Главный вопрос. Наша модель показывает: результат одного испытания складывается из способностей и удачи, а доля удачи падает как 1/√n. Значит, победа — это свидетельство таланта, но не доказательство, а поражение — тем более не приговор.</a:t>
            </a:r>
          </a:p>
          <a:p>
            <a:pPr marL="0" indent="0">
              <a:buNone/>
            </a:pPr>
            <a:r>
              <a:rPr lang="ru-RU" sz="1200" dirty="0"/>
              <a:t>По нашему опыту: экзамен в один день похож на тест из 20 вопросов — одна неудачная задача может всё перевернуть. Накопительный рейтинг за семестр — это сотни «вопросов», и в нём удача усредняется. Регрессия к среднему успокаивает только тогда, когда есть второй шанс — отсюда мем про пересдачу.</a:t>
            </a:r>
          </a:p>
          <a:p>
            <a:pPr marL="0" indent="0">
              <a:buNone/>
            </a:pPr>
            <a:r>
              <a:rPr lang="ru-RU" sz="1200" dirty="0"/>
              <a:t>На наш взгляд, награждать победителей справедливо: результат реален, и стимул важен. Несправедливо делать по одной попытке выводы о человеке. Честная система — длинные испытания, несколько туров, право на пересдачу и оценка по сумме попыток.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9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26" name="Google Shape;26;p1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3" type="body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3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44" name="Google Shape;44;p23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3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" type="body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4"/>
          <p:cNvSpPr/>
          <p:nvPr>
            <p:ph idx="2" type="pic"/>
          </p:nvPr>
        </p:nvSpPr>
        <p:spPr>
          <a:xfrm>
            <a:off x="457200" y="943208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50" name="Google Shape;50;p24"/>
          <p:cNvSpPr/>
          <p:nvPr>
            <p:ph idx="3" type="pic"/>
          </p:nvPr>
        </p:nvSpPr>
        <p:spPr>
          <a:xfrm>
            <a:off x="457200" y="2935720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5"/>
          <p:cNvSpPr txBox="1"/>
          <p:nvPr>
            <p:ph idx="1" type="body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2" type="body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3" type="body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4" type="body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6" name="Google Shape;56;p25"/>
          <p:cNvSpPr txBox="1"/>
          <p:nvPr>
            <p:ph idx="5" type="body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7" name="Google Shape;57;p25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6" type="body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9" name="Google Shape;59;p25"/>
          <p:cNvSpPr/>
          <p:nvPr>
            <p:ph idx="7" type="pic"/>
          </p:nvPr>
        </p:nvSpPr>
        <p:spPr>
          <a:xfrm>
            <a:off x="469081" y="944463"/>
            <a:ext cx="2577001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60" name="Google Shape;60;p25"/>
          <p:cNvSpPr/>
          <p:nvPr>
            <p:ph idx="8" type="pic"/>
          </p:nvPr>
        </p:nvSpPr>
        <p:spPr>
          <a:xfrm>
            <a:off x="3221666" y="944462"/>
            <a:ext cx="2577001" cy="1883023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61" name="Google Shape;61;p25"/>
          <p:cNvSpPr/>
          <p:nvPr>
            <p:ph idx="9" type="pic"/>
          </p:nvPr>
        </p:nvSpPr>
        <p:spPr>
          <a:xfrm>
            <a:off x="5980690" y="944463"/>
            <a:ext cx="2577001" cy="1883023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6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6"/>
          <p:cNvSpPr/>
          <p:nvPr>
            <p:ph idx="2" type="pic"/>
          </p:nvPr>
        </p:nvSpPr>
        <p:spPr>
          <a:xfrm>
            <a:off x="3095171" y="963397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66" name="Google Shape;66;p26"/>
          <p:cNvSpPr/>
          <p:nvPr>
            <p:ph idx="3" type="pic"/>
          </p:nvPr>
        </p:nvSpPr>
        <p:spPr>
          <a:xfrm>
            <a:off x="5733141" y="966928"/>
            <a:ext cx="2532744" cy="1883023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67" name="Google Shape;67;p26"/>
          <p:cNvSpPr/>
          <p:nvPr>
            <p:ph idx="4" type="pic"/>
          </p:nvPr>
        </p:nvSpPr>
        <p:spPr>
          <a:xfrm>
            <a:off x="5733141" y="2954042"/>
            <a:ext cx="2532744" cy="1883023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68" name="Google Shape;68;p26"/>
          <p:cNvSpPr/>
          <p:nvPr>
            <p:ph idx="5" type="pic"/>
          </p:nvPr>
        </p:nvSpPr>
        <p:spPr>
          <a:xfrm>
            <a:off x="3095171" y="2960314"/>
            <a:ext cx="2532744" cy="1883023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69" name="Google Shape;69;p26"/>
          <p:cNvSpPr/>
          <p:nvPr>
            <p:ph idx="6" type="pic"/>
          </p:nvPr>
        </p:nvSpPr>
        <p:spPr>
          <a:xfrm>
            <a:off x="457200" y="2960314"/>
            <a:ext cx="2532744" cy="1883023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7"/>
          <p:cNvSpPr txBox="1"/>
          <p:nvPr>
            <p:ph idx="1" type="body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2" type="body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3" type="body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7"/>
          <p:cNvSpPr/>
          <p:nvPr>
            <p:ph idx="4" type="pic"/>
          </p:nvPr>
        </p:nvSpPr>
        <p:spPr>
          <a:xfrm>
            <a:off x="454050" y="952607"/>
            <a:ext cx="2589213" cy="1304294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76" name="Google Shape;76;p27"/>
          <p:cNvSpPr/>
          <p:nvPr>
            <p:ph idx="5" type="pic"/>
          </p:nvPr>
        </p:nvSpPr>
        <p:spPr>
          <a:xfrm>
            <a:off x="3275818" y="952607"/>
            <a:ext cx="2589213" cy="1304294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77" name="Google Shape;77;p27"/>
          <p:cNvSpPr/>
          <p:nvPr>
            <p:ph idx="6" type="pic"/>
          </p:nvPr>
        </p:nvSpPr>
        <p:spPr>
          <a:xfrm>
            <a:off x="6089789" y="952607"/>
            <a:ext cx="2589213" cy="1304294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78" name="Google Shape;78;p27"/>
          <p:cNvSpPr txBox="1"/>
          <p:nvPr>
            <p:ph idx="7" type="body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8" type="body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9" type="body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/>
          <p:nvPr>
            <p:ph idx="13" type="pic"/>
          </p:nvPr>
        </p:nvSpPr>
        <p:spPr>
          <a:xfrm>
            <a:off x="457201" y="2866358"/>
            <a:ext cx="2589213" cy="1304294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82" name="Google Shape;82;p27"/>
          <p:cNvSpPr/>
          <p:nvPr>
            <p:ph idx="14" type="pic"/>
          </p:nvPr>
        </p:nvSpPr>
        <p:spPr>
          <a:xfrm>
            <a:off x="3278969" y="2866358"/>
            <a:ext cx="2589213" cy="1304294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83" name="Google Shape;83;p27"/>
          <p:cNvSpPr/>
          <p:nvPr>
            <p:ph idx="15" type="pic"/>
          </p:nvPr>
        </p:nvSpPr>
        <p:spPr>
          <a:xfrm>
            <a:off x="6092940" y="2866358"/>
            <a:ext cx="2589213" cy="1304294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9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9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29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9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0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1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3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2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102" name="Google Shape;102;p32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3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4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34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34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34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3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5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115" name="Google Shape;115;p35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6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7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37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37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37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8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8"/>
          <p:cNvSpPr txBox="1"/>
          <p:nvPr>
            <p:ph idx="1" type="body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38"/>
          <p:cNvSpPr/>
          <p:nvPr>
            <p:ph idx="2" type="pic"/>
          </p:nvPr>
        </p:nvSpPr>
        <p:spPr>
          <a:xfrm>
            <a:off x="457200" y="949329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29" name="Google Shape;129;p38"/>
          <p:cNvSpPr/>
          <p:nvPr>
            <p:ph idx="3" type="pic"/>
          </p:nvPr>
        </p:nvSpPr>
        <p:spPr>
          <a:xfrm>
            <a:off x="3095171" y="949328"/>
            <a:ext cx="2532744" cy="1883023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30" name="Google Shape;130;p38"/>
          <p:cNvSpPr/>
          <p:nvPr>
            <p:ph idx="4" type="pic"/>
          </p:nvPr>
        </p:nvSpPr>
        <p:spPr>
          <a:xfrm>
            <a:off x="3095171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31" name="Google Shape;131;p38"/>
          <p:cNvSpPr/>
          <p:nvPr>
            <p:ph idx="5" type="pic"/>
          </p:nvPr>
        </p:nvSpPr>
        <p:spPr>
          <a:xfrm>
            <a:off x="457199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jpg"/><Relationship Id="rId4" Type="http://schemas.openxmlformats.org/officeDocument/2006/relationships/image" Target="../media/image2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3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4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33.png"/><Relationship Id="rId6" Type="http://schemas.openxmlformats.org/officeDocument/2006/relationships/image" Target="../media/image25.png"/><Relationship Id="rId7" Type="http://schemas.openxmlformats.org/officeDocument/2006/relationships/image" Target="../media/image29.png"/><Relationship Id="rId8" Type="http://schemas.openxmlformats.org/officeDocument/2006/relationships/image" Target="../media/image3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png"/><Relationship Id="rId4" Type="http://schemas.openxmlformats.org/officeDocument/2006/relationships/image" Target="../media/image43.png"/><Relationship Id="rId5" Type="http://schemas.openxmlformats.org/officeDocument/2006/relationships/image" Target="../media/image3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1.jp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jpg"/><Relationship Id="rId5" Type="http://schemas.openxmlformats.org/officeDocument/2006/relationships/image" Target="../media/image49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0.png"/><Relationship Id="rId4" Type="http://schemas.openxmlformats.org/officeDocument/2006/relationships/image" Target="../media/image51.jp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4.png"/><Relationship Id="rId4" Type="http://schemas.openxmlformats.org/officeDocument/2006/relationships/image" Target="../media/image55.jpg"/><Relationship Id="rId5" Type="http://schemas.openxmlformats.org/officeDocument/2006/relationships/image" Target="../media/image56.png"/><Relationship Id="rId6" Type="http://schemas.openxmlformats.org/officeDocument/2006/relationships/image" Target="../media/image57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2.png"/><Relationship Id="rId4" Type="http://schemas.openxmlformats.org/officeDocument/2006/relationships/image" Target="../media/image6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/>
          <p:nvPr>
            <p:ph type="title"/>
          </p:nvPr>
        </p:nvSpPr>
        <p:spPr>
          <a:xfrm>
            <a:off x="1371600" y="2442525"/>
            <a:ext cx="64008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4400">
                <a:solidFill>
                  <a:schemeClr val="lt1"/>
                </a:solidFill>
              </a:rPr>
              <a:t>Победителей не судят. А зря…</a:t>
            </a:r>
            <a:endParaRPr sz="4400">
              <a:solidFill>
                <a:schemeClr val="lt1"/>
              </a:solidFill>
            </a:endParaRPr>
          </a:p>
        </p:txBody>
      </p:sp>
      <p:pic>
        <p:nvPicPr>
          <p:cNvPr id="137" name="Google Shape;137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0800" y="2970075"/>
            <a:ext cx="2183208" cy="2137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</a:pPr>
            <a:r>
              <a:rPr b="0" lang="ru-RU" sz="3600">
                <a:latin typeface="Comfortaa SemiBold"/>
                <a:ea typeface="Comfortaa SemiBold"/>
                <a:cs typeface="Comfortaa SemiBold"/>
                <a:sym typeface="Comfortaa SemiBold"/>
              </a:rPr>
              <a:t>Талант против удачи </a:t>
            </a:r>
            <a:endParaRPr b="0" sz="3600"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sp>
        <p:nvSpPr>
          <p:cNvPr id="143" name="Google Shape;143;p3"/>
          <p:cNvSpPr txBox="1"/>
          <p:nvPr>
            <p:ph idx="1" type="body"/>
          </p:nvPr>
        </p:nvSpPr>
        <p:spPr>
          <a:xfrm>
            <a:off x="5480425" y="1153875"/>
            <a:ext cx="2532900" cy="15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360"/>
              <a:buFont typeface="Arial"/>
              <a:buNone/>
            </a:pPr>
            <a:r>
              <a:rPr lang="ru-RU" sz="1690">
                <a:latin typeface="Times New Roman"/>
                <a:ea typeface="Times New Roman"/>
                <a:cs typeface="Times New Roman"/>
                <a:sym typeface="Times New Roman"/>
              </a:rPr>
              <a:t>Какова вероятность, что на экзамене послабее наберёт больше баллов? Ведь умный тоже ошибается, а слабый тоже иногда угадывает. </a:t>
            </a:r>
            <a:endParaRPr sz="169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4" name="Google Shape;144;p3" title="Сравнение тестов_ 20 и 1000 вопросов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051" y="1115850"/>
            <a:ext cx="5138051" cy="342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"/>
          <p:cNvSpPr txBox="1"/>
          <p:nvPr/>
        </p:nvSpPr>
        <p:spPr>
          <a:xfrm>
            <a:off x="6109250" y="2889725"/>
            <a:ext cx="2532900" cy="15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ru-RU" sz="16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Чем длиннее испытание - тем честнее результат. Короткий тест - это лотерея, длинный - уже настоящее измерение способностей. 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 txBox="1"/>
          <p:nvPr>
            <p:ph idx="1" type="body"/>
          </p:nvPr>
        </p:nvSpPr>
        <p:spPr>
          <a:xfrm>
            <a:off x="518450" y="1132000"/>
            <a:ext cx="3825900" cy="12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500">
                <a:latin typeface="Times New Roman"/>
                <a:ea typeface="Times New Roman"/>
                <a:cs typeface="Times New Roman"/>
                <a:sym typeface="Times New Roman"/>
              </a:rPr>
              <a:t>Возьмём экзамен из 20 вопросов.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32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ru-RU" sz="1500">
                <a:latin typeface="Times New Roman"/>
                <a:ea typeface="Times New Roman"/>
                <a:cs typeface="Times New Roman"/>
                <a:sym typeface="Times New Roman"/>
              </a:rPr>
              <a:t>Слабый: p</a:t>
            </a:r>
            <a:r>
              <a:rPr baseline="-25000" lang="ru-RU" sz="15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ru-RU" sz="1500">
                <a:latin typeface="Times New Roman"/>
                <a:ea typeface="Times New Roman"/>
                <a:cs typeface="Times New Roman"/>
                <a:sym typeface="Times New Roman"/>
              </a:rPr>
              <a:t>=0.6 (60% верных)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32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ru-RU" sz="1500"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r>
              <a:rPr lang="ru-RU" sz="1500">
                <a:latin typeface="Times New Roman"/>
                <a:ea typeface="Times New Roman"/>
                <a:cs typeface="Times New Roman"/>
                <a:sym typeface="Times New Roman"/>
              </a:rPr>
              <a:t>Сильный: p</a:t>
            </a:r>
            <a:r>
              <a:rPr baseline="-25000" lang="ru-RU" sz="15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ru-RU" sz="1500">
                <a:latin typeface="Times New Roman"/>
                <a:ea typeface="Times New Roman"/>
                <a:cs typeface="Times New Roman"/>
                <a:sym typeface="Times New Roman"/>
              </a:rPr>
              <a:t>=0.7 (70% верных)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ru-RU" sz="1500">
                <a:latin typeface="Times New Roman"/>
                <a:ea typeface="Times New Roman"/>
                <a:cs typeface="Times New Roman"/>
                <a:sym typeface="Times New Roman"/>
              </a:rPr>
              <a:t>k - балл сильного, m - балл слабого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1" name="Google Shape;15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0925" y="1064151"/>
            <a:ext cx="3515350" cy="6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0925" y="1794675"/>
            <a:ext cx="4295485" cy="6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8823" y="2525200"/>
            <a:ext cx="2527455" cy="228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"/>
          <p:cNvSpPr txBox="1"/>
          <p:nvPr>
            <p:ph type="title"/>
          </p:nvPr>
        </p:nvSpPr>
        <p:spPr>
          <a:xfrm>
            <a:off x="344650" y="280460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</a:pPr>
            <a:r>
              <a:rPr b="0" lang="ru-RU" sz="3600">
                <a:latin typeface="Comfortaa SemiBold"/>
                <a:ea typeface="Comfortaa SemiBold"/>
                <a:cs typeface="Comfortaa SemiBold"/>
                <a:sym typeface="Comfortaa SemiBold"/>
              </a:rPr>
              <a:t>Если участников мало</a:t>
            </a:r>
            <a:r>
              <a:rPr b="0" lang="ru-RU" sz="3600">
                <a:latin typeface="Comfortaa SemiBold"/>
                <a:ea typeface="Comfortaa SemiBold"/>
                <a:cs typeface="Comfortaa SemiBold"/>
                <a:sym typeface="Comfortaa SemiBold"/>
              </a:rPr>
              <a:t> </a:t>
            </a:r>
            <a:endParaRPr b="0" sz="3600"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pic>
        <p:nvPicPr>
          <p:cNvPr id="155" name="Google Shape;155;p2" title="Удача убегает с трофеем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25" y="2268225"/>
            <a:ext cx="2908350" cy="243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5bc0d5b59e3c6e1f_1_10"/>
          <p:cNvSpPr txBox="1"/>
          <p:nvPr/>
        </p:nvSpPr>
        <p:spPr>
          <a:xfrm>
            <a:off x="524475" y="1054750"/>
            <a:ext cx="4171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latin typeface="Times New Roman"/>
                <a:ea typeface="Times New Roman"/>
                <a:cs typeface="Times New Roman"/>
                <a:sym typeface="Times New Roman"/>
              </a:rPr>
              <a:t>Пусть у нас N=1000 участников.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ru-RU" sz="1500">
                <a:latin typeface="Times New Roman"/>
                <a:ea typeface="Times New Roman"/>
                <a:cs typeface="Times New Roman"/>
                <a:sym typeface="Times New Roman"/>
              </a:rPr>
              <a:t>Способности распределены, от 0.5 до 0.8.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ru-RU" sz="1500">
                <a:latin typeface="Times New Roman"/>
                <a:ea typeface="Times New Roman"/>
                <a:cs typeface="Times New Roman"/>
                <a:sym typeface="Times New Roman"/>
              </a:rPr>
              <a:t>Возьмем две группы: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○"/>
            </a:pPr>
            <a:r>
              <a:rPr lang="ru-RU" sz="1500">
                <a:latin typeface="Times New Roman"/>
                <a:ea typeface="Times New Roman"/>
                <a:cs typeface="Times New Roman"/>
                <a:sym typeface="Times New Roman"/>
              </a:rPr>
              <a:t>10 «талантов» с p=0.75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○"/>
            </a:pPr>
            <a:r>
              <a:rPr lang="ru-RU" sz="1500">
                <a:latin typeface="Times New Roman"/>
                <a:ea typeface="Times New Roman"/>
                <a:cs typeface="Times New Roman"/>
                <a:sym typeface="Times New Roman"/>
              </a:rPr>
              <a:t>990 «обычных» с p=0.60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latin typeface="Times New Roman"/>
                <a:ea typeface="Times New Roman"/>
                <a:cs typeface="Times New Roman"/>
                <a:sym typeface="Times New Roman"/>
              </a:rPr>
              <a:t>Экзамен - n вопросов.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1" name="Google Shape;161;h5bc0d5b59e3c6e1f_1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1750" y="2557475"/>
            <a:ext cx="2318725" cy="210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h5bc0d5b59e3c6e1f_1_10"/>
          <p:cNvPicPr preferRelativeResize="0"/>
          <p:nvPr/>
        </p:nvPicPr>
        <p:blipFill rotWithShape="1">
          <a:blip r:embed="rId4">
            <a:alphaModFix/>
          </a:blip>
          <a:srcRect b="3344" l="49323" r="0" t="0"/>
          <a:stretch/>
        </p:blipFill>
        <p:spPr>
          <a:xfrm>
            <a:off x="4972975" y="1484625"/>
            <a:ext cx="3286575" cy="328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h5bc0d5b59e3c6e1f_1_10"/>
          <p:cNvSpPr txBox="1"/>
          <p:nvPr>
            <p:ph type="title"/>
          </p:nvPr>
        </p:nvSpPr>
        <p:spPr>
          <a:xfrm>
            <a:off x="457200" y="272410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</a:pPr>
            <a:r>
              <a:rPr b="0" lang="ru-RU" sz="3600">
                <a:latin typeface="Comfortaa SemiBold"/>
                <a:ea typeface="Comfortaa SemiBold"/>
                <a:cs typeface="Comfortaa SemiBold"/>
                <a:sym typeface="Comfortaa SemiBold"/>
              </a:rPr>
              <a:t>Если участников много </a:t>
            </a:r>
            <a:r>
              <a:rPr b="0" lang="ru-RU" sz="3600">
                <a:latin typeface="Comfortaa SemiBold"/>
                <a:ea typeface="Comfortaa SemiBold"/>
                <a:cs typeface="Comfortaa SemiBold"/>
                <a:sym typeface="Comfortaa SemiBold"/>
              </a:rPr>
              <a:t> </a:t>
            </a:r>
            <a:endParaRPr b="0" sz="3600"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 txBox="1"/>
          <p:nvPr>
            <p:ph idx="1" type="body"/>
          </p:nvPr>
        </p:nvSpPr>
        <p:spPr>
          <a:xfrm>
            <a:off x="508000" y="1519249"/>
            <a:ext cx="3637800" cy="18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</a:pPr>
            <a:r>
              <a:rPr lang="ru-RU" sz="1400">
                <a:highlight>
                  <a:schemeClr val="lt1"/>
                </a:highlight>
              </a:rPr>
              <a:t>Игрок А: вероятность правильного ответа </a:t>
            </a:r>
            <a:r>
              <a:rPr i="1" lang="ru-RU" sz="1400">
                <a:highlight>
                  <a:schemeClr val="lt1"/>
                </a:highlight>
              </a:rPr>
              <a:t>p </a:t>
            </a:r>
            <a:r>
              <a:rPr lang="ru-RU" sz="1400">
                <a:highlight>
                  <a:schemeClr val="lt1"/>
                </a:highlight>
              </a:rPr>
              <a:t>= 0,7</a:t>
            </a:r>
            <a:endParaRPr sz="1400"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</a:pPr>
            <a:r>
              <a:rPr lang="ru-RU" sz="1400">
                <a:highlight>
                  <a:schemeClr val="lt1"/>
                </a:highlight>
              </a:rPr>
              <a:t>Соперники: 9 игроков, у каждого </a:t>
            </a:r>
            <a:r>
              <a:rPr i="1" lang="ru-RU" sz="1400">
                <a:highlight>
                  <a:schemeClr val="lt1"/>
                </a:highlight>
              </a:rPr>
              <a:t>p </a:t>
            </a:r>
            <a:r>
              <a:rPr lang="ru-RU" sz="1400">
                <a:highlight>
                  <a:schemeClr val="lt1"/>
                </a:highlight>
              </a:rPr>
              <a:t>= 0,6</a:t>
            </a:r>
            <a:endParaRPr sz="1400"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</a:pPr>
            <a:r>
              <a:rPr lang="ru-RU" sz="1400">
                <a:highlight>
                  <a:schemeClr val="lt1"/>
                </a:highlight>
              </a:rPr>
              <a:t>Тест: 20 вопросов</a:t>
            </a:r>
            <a:endParaRPr sz="1400"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</a:pPr>
            <a:r>
              <a:rPr lang="ru-RU" sz="1400">
                <a:highlight>
                  <a:schemeClr val="lt1"/>
                </a:highlight>
              </a:rPr>
              <a:t>Вопрос: кто победит?</a:t>
            </a:r>
            <a:endParaRPr sz="14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olos Text SemiBold"/>
              <a:buNone/>
            </a:pPr>
            <a:r>
              <a:rPr lang="ru-RU"/>
              <a:t>Размер имеет значение</a:t>
            </a:r>
            <a:endParaRPr/>
          </a:p>
        </p:txBody>
      </p:sp>
      <p:pic>
        <p:nvPicPr>
          <p:cNvPr id="170" name="Google Shape;17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4100" y="833725"/>
            <a:ext cx="4204124" cy="4204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/>
          <p:nvPr>
            <p:ph idx="1" type="body"/>
          </p:nvPr>
        </p:nvSpPr>
        <p:spPr>
          <a:xfrm>
            <a:off x="292844" y="1867023"/>
            <a:ext cx="3593400" cy="27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olos Text"/>
              <a:buChar char="●"/>
            </a:pPr>
            <a:r>
              <a:rPr lang="ru-RU" sz="1400"/>
              <a:t>Распределения: </a:t>
            </a:r>
            <a:endParaRPr sz="1400"/>
          </a:p>
          <a:p>
            <a:pPr indent="-3175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ru-RU" sz="1400"/>
              <a:t>Bin(20;0,7) и Bin(20;0,6)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olos Text"/>
              <a:buChar char="●"/>
            </a:pPr>
            <a:r>
              <a:rPr lang="ru-RU" sz="1400"/>
              <a:t>Фиолетовая область - совпадение результатов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 txBox="1"/>
          <p:nvPr>
            <p:ph type="title"/>
          </p:nvPr>
        </p:nvSpPr>
        <p:spPr>
          <a:xfrm>
            <a:off x="411450" y="599310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4921"/>
              <a:buFont typeface="Arial"/>
              <a:buNone/>
            </a:pPr>
            <a:r>
              <a:rPr lang="ru-RU" sz="3150">
                <a:latin typeface="Golos Text"/>
                <a:ea typeface="Golos Text"/>
                <a:cs typeface="Golos Text"/>
                <a:sym typeface="Golos Text"/>
              </a:rPr>
              <a:t>Результаты перекрываются</a:t>
            </a:r>
            <a:endParaRPr sz="315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 txBox="1"/>
          <p:nvPr>
            <p:ph idx="4294967295" type="body"/>
          </p:nvPr>
        </p:nvSpPr>
        <p:spPr>
          <a:xfrm>
            <a:off x="5225850" y="1126708"/>
            <a:ext cx="3474000" cy="40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В диапазоне 11–15 баллов фаворит и середняк неразличимы</a:t>
            </a:r>
            <a:r>
              <a:rPr lang="ru-RU" sz="11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 </a:t>
            </a:r>
            <a:endParaRPr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pic>
        <p:nvPicPr>
          <p:cNvPr id="178" name="Google Shape;17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4025" y="1427725"/>
            <a:ext cx="5271674" cy="263582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5"/>
          <p:cNvSpPr txBox="1"/>
          <p:nvPr/>
        </p:nvSpPr>
        <p:spPr>
          <a:xfrm>
            <a:off x="3012075" y="4063550"/>
            <a:ext cx="644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В диапазоне 11–15 баллов фаворит и середняк неразличимы </a:t>
            </a:r>
            <a:endParaRPr b="1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/>
          <p:nvPr>
            <p:ph type="title"/>
          </p:nvPr>
        </p:nvSpPr>
        <p:spPr>
          <a:xfrm>
            <a:off x="594475" y="6296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4921"/>
              <a:buFont typeface="Arial"/>
              <a:buNone/>
            </a:pPr>
            <a:r>
              <a:rPr lang="ru-RU" sz="3150">
                <a:latin typeface="Golos Text"/>
                <a:ea typeface="Golos Text"/>
                <a:cs typeface="Golos Text"/>
                <a:sym typeface="Golos Text"/>
              </a:rPr>
              <a:t>Планка поднимается</a:t>
            </a:r>
            <a:endParaRPr sz="315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 txBox="1"/>
          <p:nvPr>
            <p:ph idx="1" type="body"/>
          </p:nvPr>
        </p:nvSpPr>
        <p:spPr>
          <a:xfrm>
            <a:off x="393150" y="1217225"/>
            <a:ext cx="3020700" cy="3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</a:pPr>
            <a:r>
              <a:rPr lang="ru-RU"/>
              <a:t>Игрок А должен побить максимум из 9 соперников, а не среднего</a:t>
            </a:r>
            <a:endParaRPr/>
          </a:p>
          <a:p>
            <a:pPr indent="-3175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</a:pPr>
            <a:r>
              <a:rPr lang="ru-RU"/>
              <a:t>Средний максимум из 9 соперников ≈ 15,2</a:t>
            </a:r>
            <a:endParaRPr/>
          </a:p>
          <a:p>
            <a:pPr indent="-3175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</a:pPr>
            <a:r>
              <a:rPr lang="ru-RU"/>
              <a:t>Средний результат игрока А = 14 баллов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86" name="Google Shape;18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6950" y="1510050"/>
            <a:ext cx="5125325" cy="256267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6"/>
          <p:cNvSpPr txBox="1"/>
          <p:nvPr/>
        </p:nvSpPr>
        <p:spPr>
          <a:xfrm>
            <a:off x="4283200" y="3950525"/>
            <a:ext cx="390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Лучший из соперников в среднем играет лучше, чем фаворит</a:t>
            </a:r>
            <a:r>
              <a:rPr lang="ru-RU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4457c8ad753bcbb7_0_19"/>
          <p:cNvSpPr txBox="1"/>
          <p:nvPr>
            <p:ph type="title"/>
          </p:nvPr>
        </p:nvSpPr>
        <p:spPr>
          <a:xfrm>
            <a:off x="457200" y="8006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4921"/>
              <a:buFont typeface="Arial"/>
              <a:buNone/>
            </a:pPr>
            <a:r>
              <a:rPr lang="ru-RU" sz="3150">
                <a:latin typeface="Golos Text"/>
                <a:ea typeface="Golos Text"/>
                <a:cs typeface="Golos Text"/>
                <a:sym typeface="Golos Text"/>
              </a:rPr>
              <a:t>Теория и симуляция</a:t>
            </a:r>
            <a:endParaRPr sz="315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h4457c8ad753bcbb7_0_19"/>
          <p:cNvSpPr txBox="1"/>
          <p:nvPr>
            <p:ph idx="1" type="body"/>
          </p:nvPr>
        </p:nvSpPr>
        <p:spPr>
          <a:xfrm>
            <a:off x="624113" y="1233715"/>
            <a:ext cx="7170000" cy="3411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</a:pPr>
            <a:r>
              <a:rPr lang="ru-RU" sz="1400"/>
              <a:t>Шанс победы над 1 соперником: 70%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</a:pPr>
            <a:r>
              <a:rPr lang="ru-RU" sz="1400"/>
              <a:t>Шанс победы над 9 соперниками: 31% (для 20 вопросов) и 70% (для 100 вопросов)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</a:pPr>
            <a:r>
              <a:rPr lang="ru-RU" sz="1400"/>
              <a:t>Проверка: 100 000 симуляций подтверждают расчёт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h4457c8ad753bcbb7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975" y="2496700"/>
            <a:ext cx="4180352" cy="209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h4457c8ad753bcbb7_0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0575" y="2496700"/>
            <a:ext cx="3896650" cy="1948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h4457c8ad753bcbb7_0_19"/>
          <p:cNvSpPr txBox="1"/>
          <p:nvPr/>
        </p:nvSpPr>
        <p:spPr>
          <a:xfrm>
            <a:off x="578350" y="4460475"/>
            <a:ext cx="474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rPr>
              <a:t>Влияние количества соперников на шанс победы</a:t>
            </a:r>
            <a:r>
              <a:rPr b="1" lang="ru-RU" sz="11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 b="1">
              <a:solidFill>
                <a:schemeClr val="dk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8" name="Google Shape;198;h4457c8ad753bcbb7_0_19"/>
          <p:cNvSpPr txBox="1"/>
          <p:nvPr/>
        </p:nvSpPr>
        <p:spPr>
          <a:xfrm>
            <a:off x="4850575" y="4445025"/>
            <a:ext cx="53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Проверка формул: Теория vs 100 000 симуляций</a:t>
            </a:r>
            <a:r>
              <a:rPr b="1" lang="ru-RU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 b="1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h4820cdf94a74d4e4_0_12"/>
          <p:cNvSpPr txBox="1"/>
          <p:nvPr>
            <p:ph idx="1" type="body"/>
          </p:nvPr>
        </p:nvSpPr>
        <p:spPr>
          <a:xfrm>
            <a:off x="624113" y="1233715"/>
            <a:ext cx="7170000" cy="3411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h4820cdf94a74d4e4_0_12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h4820cdf94a74d4e4_0_18"/>
          <p:cNvSpPr txBox="1"/>
          <p:nvPr>
            <p:ph idx="1" type="body"/>
          </p:nvPr>
        </p:nvSpPr>
        <p:spPr>
          <a:xfrm>
            <a:off x="624113" y="1233715"/>
            <a:ext cx="7170000" cy="3411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h4820cdf94a74d4e4_0_1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h4820cdf94a74d4e4_0_6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h4820cdf94a74d4e4_0_6"/>
          <p:cNvSpPr txBox="1"/>
          <p:nvPr>
            <p:ph idx="1" type="body"/>
          </p:nvPr>
        </p:nvSpPr>
        <p:spPr>
          <a:xfrm>
            <a:off x="457200" y="1211943"/>
            <a:ext cx="7467600" cy="344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4820cdf94a74d4e4_0_0"/>
          <p:cNvSpPr txBox="1"/>
          <p:nvPr>
            <p:ph idx="1" type="body"/>
          </p:nvPr>
        </p:nvSpPr>
        <p:spPr>
          <a:xfrm>
            <a:off x="624113" y="1233715"/>
            <a:ext cx="7170000" cy="3411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h4820cdf94a74d4e4_0_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4820cdf94a74d4e4_0_31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56"/>
              <a:buFont typeface="Golos Text SemiBold"/>
              <a:buNone/>
            </a:pPr>
            <a:r>
              <a:rPr lang="ru-RU" sz="2800"/>
              <a:t>Экзамен: знания + лотерея</a:t>
            </a:r>
            <a:endParaRPr/>
          </a:p>
        </p:txBody>
      </p:sp>
      <p:sp>
        <p:nvSpPr>
          <p:cNvPr id="233" name="Google Shape;233;h4820cdf94a74d4e4_0_31"/>
          <p:cNvSpPr txBox="1"/>
          <p:nvPr/>
        </p:nvSpPr>
        <p:spPr>
          <a:xfrm>
            <a:off x="594360" y="1207008"/>
            <a:ext cx="7223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5E5A66"/>
                </a:solidFill>
                <a:latin typeface="Golos Text"/>
                <a:ea typeface="Golos Text"/>
                <a:cs typeface="Golos Text"/>
                <a:sym typeface="Golos Text"/>
              </a:rPr>
              <a:t>Тест из 20 вопросов: один знает 80% материала, другой — 70%</a:t>
            </a:r>
            <a:endParaRPr/>
          </a:p>
        </p:txBody>
      </p:sp>
      <p:pic>
        <p:nvPicPr>
          <p:cNvPr descr="c1.png" id="234" name="Google Shape;234;h4820cdf94a74d4e4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450" y="1422400"/>
            <a:ext cx="3426751" cy="2819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1a.png" id="235" name="Google Shape;235;h4820cdf94a74d4e4_0_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1405" y="1530040"/>
            <a:ext cx="3275301" cy="2705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1d.png" id="236" name="Google Shape;236;h4820cdf94a74d4e4_0_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41405" y="1983516"/>
            <a:ext cx="2913784" cy="2446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1e.png" id="237" name="Google Shape;237;h4820cdf94a74d4e4_0_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41405" y="2411015"/>
            <a:ext cx="2528454" cy="316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1c.png" id="238" name="Google Shape;238;h4820cdf94a74d4e4_0_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41405" y="2803789"/>
            <a:ext cx="3108613" cy="53469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h4820cdf94a74d4e4_0_31"/>
          <p:cNvSpPr/>
          <p:nvPr/>
        </p:nvSpPr>
        <p:spPr>
          <a:xfrm>
            <a:off x="3641405" y="4040138"/>
            <a:ext cx="3520500" cy="658500"/>
          </a:xfrm>
          <a:prstGeom prst="roundRect">
            <a:avLst>
              <a:gd fmla="val 12000" name="adj"/>
            </a:avLst>
          </a:prstGeom>
          <a:noFill/>
          <a:ln cap="flat" cmpd="sng" w="19050">
            <a:solidFill>
              <a:srgbClr val="FF3E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h4820cdf94a74d4e4_0_31"/>
          <p:cNvSpPr txBox="1"/>
          <p:nvPr/>
        </p:nvSpPr>
        <p:spPr>
          <a:xfrm>
            <a:off x="3778640" y="4137801"/>
            <a:ext cx="32460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Слабый не уступает сильному </a:t>
            </a:r>
            <a:r>
              <a:rPr b="1" i="0" lang="ru-RU" sz="1400" u="none" cap="none" strike="noStrike">
                <a:solidFill>
                  <a:srgbClr val="FF3E35"/>
                </a:solidFill>
                <a:latin typeface="Golos Text"/>
                <a:ea typeface="Golos Text"/>
                <a:cs typeface="Golos Text"/>
                <a:sym typeface="Golos Text"/>
              </a:rPr>
              <a:t>почти на каждом третьем</a:t>
            </a:r>
            <a:r>
              <a:rPr b="0" i="0" lang="ru-RU" sz="14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 экзамене</a:t>
            </a:r>
            <a:endParaRPr/>
          </a:p>
        </p:txBody>
      </p:sp>
      <p:pic>
        <p:nvPicPr>
          <p:cNvPr id="241" name="Google Shape;241;h4820cdf94a74d4e4_0_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12625" y="2011975"/>
            <a:ext cx="2126874" cy="19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h4820cdf94a74d4e4_0_9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56"/>
              <a:buFont typeface="Golos Text SemiBold"/>
              <a:buNone/>
            </a:pPr>
            <a:r>
              <a:rPr lang="ru-RU" sz="2800"/>
              <a:t>Спорт: фавориты проигрывают</a:t>
            </a:r>
            <a:endParaRPr/>
          </a:p>
        </p:txBody>
      </p:sp>
      <p:sp>
        <p:nvSpPr>
          <p:cNvPr id="248" name="Google Shape;248;h4820cdf94a74d4e4_0_98"/>
          <p:cNvSpPr txBox="1"/>
          <p:nvPr/>
        </p:nvSpPr>
        <p:spPr>
          <a:xfrm>
            <a:off x="594360" y="1207008"/>
            <a:ext cx="7223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5E5A66"/>
                </a:solidFill>
                <a:latin typeface="Golos Text"/>
                <a:ea typeface="Golos Text"/>
                <a:cs typeface="Golos Text"/>
                <a:sym typeface="Golos Text"/>
              </a:rPr>
              <a:t>Как часто побеждает команда, стоящая ниже в турнирной таблице?</a:t>
            </a:r>
            <a:endParaRPr/>
          </a:p>
        </p:txBody>
      </p:sp>
      <p:pic>
        <p:nvPicPr>
          <p:cNvPr descr="c2.png" id="249" name="Google Shape;249;h4820cdf94a74d4e4_0_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36192"/>
            <a:ext cx="4937760" cy="278892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h4820cdf94a74d4e4_0_98"/>
          <p:cNvSpPr txBox="1"/>
          <p:nvPr/>
        </p:nvSpPr>
        <p:spPr>
          <a:xfrm>
            <a:off x="5577840" y="1536205"/>
            <a:ext cx="3017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400" u="none" cap="none" strike="noStrike">
                <a:solidFill>
                  <a:srgbClr val="FF3E35"/>
                </a:solidFill>
                <a:latin typeface="Golos Text"/>
                <a:ea typeface="Golos Text"/>
                <a:cs typeface="Golos Text"/>
                <a:sym typeface="Golos Text"/>
              </a:rPr>
              <a:t>5000 : 1</a:t>
            </a:r>
            <a:endParaRPr/>
          </a:p>
        </p:txBody>
      </p:sp>
      <p:sp>
        <p:nvSpPr>
          <p:cNvPr id="251" name="Google Shape;251;h4820cdf94a74d4e4_0_98"/>
          <p:cNvSpPr txBox="1"/>
          <p:nvPr/>
        </p:nvSpPr>
        <p:spPr>
          <a:xfrm>
            <a:off x="5577840" y="2227325"/>
            <a:ext cx="3017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3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столько давали букмекеры на «Лестер» перед сезоном АПЛ 2015/16</a:t>
            </a:r>
            <a:endParaRPr/>
          </a:p>
        </p:txBody>
      </p:sp>
      <p:sp>
        <p:nvSpPr>
          <p:cNvPr id="252" name="Google Shape;252;h4820cdf94a74d4e4_0_98"/>
          <p:cNvSpPr txBox="1"/>
          <p:nvPr/>
        </p:nvSpPr>
        <p:spPr>
          <a:xfrm>
            <a:off x="5577840" y="2887635"/>
            <a:ext cx="3017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6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Итог — чемпион</a:t>
            </a:r>
            <a:endParaRPr/>
          </a:p>
        </p:txBody>
      </p:sp>
      <p:pic>
        <p:nvPicPr>
          <p:cNvPr id="253" name="Google Shape;253;h4820cdf94a74d4e4_0_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4960" y="3133935"/>
            <a:ext cx="2980292" cy="1676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h4820cdf94a74d4e4_0_162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Font typeface="Golos Text SemiBold"/>
              <a:buNone/>
            </a:pPr>
            <a:r>
              <a:rPr lang="ru-RU" sz="2800"/>
              <a:t>Наука: хит — когда повезёт</a:t>
            </a:r>
            <a:endParaRPr/>
          </a:p>
        </p:txBody>
      </p:sp>
      <p:sp>
        <p:nvSpPr>
          <p:cNvPr id="260" name="Google Shape;260;h4820cdf94a74d4e4_0_162"/>
          <p:cNvSpPr txBox="1"/>
          <p:nvPr/>
        </p:nvSpPr>
        <p:spPr>
          <a:xfrm>
            <a:off x="594360" y="1207008"/>
            <a:ext cx="7223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5E5A66"/>
                </a:solidFill>
                <a:latin typeface="Golos Text"/>
                <a:ea typeface="Golos Text"/>
                <a:cs typeface="Golos Text"/>
                <a:sym typeface="Golos Text"/>
              </a:rPr>
              <a:t>Карьера учёного: кружок — статья, размер — число цитирований</a:t>
            </a:r>
            <a:endParaRPr/>
          </a:p>
        </p:txBody>
      </p:sp>
      <p:pic>
        <p:nvPicPr>
          <p:cNvPr descr="c3.png" id="261" name="Google Shape;261;h4820cdf94a74d4e4_0_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72768"/>
            <a:ext cx="7863839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h4820cdf94a74d4e4_0_162"/>
          <p:cNvSpPr/>
          <p:nvPr/>
        </p:nvSpPr>
        <p:spPr>
          <a:xfrm>
            <a:off x="594360" y="2724912"/>
            <a:ext cx="3840600" cy="1645800"/>
          </a:xfrm>
          <a:prstGeom prst="roundRect">
            <a:avLst>
              <a:gd fmla="val 12000" name="adj"/>
            </a:avLst>
          </a:prstGeom>
          <a:noFill/>
          <a:ln cap="flat" cmpd="sng" w="19050">
            <a:solidFill>
              <a:srgbClr val="930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3.png" id="263" name="Google Shape;263;h4820cdf94a74d4e4_0_1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1148" y="2889504"/>
            <a:ext cx="2586903" cy="46975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h4820cdf94a74d4e4_0_162"/>
          <p:cNvSpPr txBox="1"/>
          <p:nvPr/>
        </p:nvSpPr>
        <p:spPr>
          <a:xfrm>
            <a:off x="777240" y="3423267"/>
            <a:ext cx="34746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3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Лучшая работа с равной вероятностью может быть любой по счёту — как лучший жених в задаче о невесте</a:t>
            </a:r>
            <a:endParaRPr/>
          </a:p>
        </p:txBody>
      </p:sp>
      <p:sp>
        <p:nvSpPr>
          <p:cNvPr id="265" name="Google Shape;265;h4820cdf94a74d4e4_0_162"/>
          <p:cNvSpPr/>
          <p:nvPr/>
        </p:nvSpPr>
        <p:spPr>
          <a:xfrm>
            <a:off x="4709160" y="2724912"/>
            <a:ext cx="3840600" cy="1645800"/>
          </a:xfrm>
          <a:prstGeom prst="roundRect">
            <a:avLst>
              <a:gd fmla="val 12000" name="adj"/>
            </a:avLst>
          </a:prstGeom>
          <a:noFill/>
          <a:ln cap="flat" cmpd="sng" w="19050">
            <a:solidFill>
              <a:srgbClr val="FF3E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h4820cdf94a74d4e4_0_162"/>
          <p:cNvSpPr txBox="1"/>
          <p:nvPr/>
        </p:nvSpPr>
        <p:spPr>
          <a:xfrm>
            <a:off x="4892040" y="2862072"/>
            <a:ext cx="347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000" u="none" cap="none" strike="noStrike">
                <a:solidFill>
                  <a:srgbClr val="FF3E35"/>
                </a:solidFill>
                <a:latin typeface="Golos Text"/>
                <a:ea typeface="Golos Text"/>
                <a:cs typeface="Golos Text"/>
                <a:sym typeface="Golos Text"/>
              </a:rPr>
              <a:t>1928</a:t>
            </a:r>
            <a:endParaRPr/>
          </a:p>
        </p:txBody>
      </p:sp>
      <p:sp>
        <p:nvSpPr>
          <p:cNvPr id="267" name="Google Shape;267;h4820cdf94a74d4e4_0_162"/>
          <p:cNvSpPr txBox="1"/>
          <p:nvPr/>
        </p:nvSpPr>
        <p:spPr>
          <a:xfrm>
            <a:off x="4892040" y="3383280"/>
            <a:ext cx="34746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3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Флеминг уехал в отпуск и оставил чашки с бактериями. В одну попала плесень — так открыли пенициллин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h4820cdf94a74d4e4_0_229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56"/>
              <a:buFont typeface="Golos Text SemiBold"/>
              <a:buNone/>
            </a:pPr>
            <a:r>
              <a:rPr lang="ru-RU" sz="2800"/>
              <a:t>Карьера: удача старта и пути</a:t>
            </a:r>
            <a:endParaRPr/>
          </a:p>
        </p:txBody>
      </p:sp>
      <p:sp>
        <p:nvSpPr>
          <p:cNvPr id="274" name="Google Shape;274;h4820cdf94a74d4e4_0_229"/>
          <p:cNvSpPr txBox="1"/>
          <p:nvPr/>
        </p:nvSpPr>
        <p:spPr>
          <a:xfrm>
            <a:off x="594360" y="1188720"/>
            <a:ext cx="384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5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Дата рождения</a:t>
            </a:r>
            <a:endParaRPr/>
          </a:p>
        </p:txBody>
      </p:sp>
      <p:sp>
        <p:nvSpPr>
          <p:cNvPr id="275" name="Google Shape;275;h4820cdf94a74d4e4_0_229"/>
          <p:cNvSpPr txBox="1"/>
          <p:nvPr/>
        </p:nvSpPr>
        <p:spPr>
          <a:xfrm>
            <a:off x="594360" y="1444752"/>
            <a:ext cx="384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5E5A66"/>
                </a:solidFill>
                <a:latin typeface="Golos Text"/>
                <a:ea typeface="Golos Text"/>
                <a:cs typeface="Golos Text"/>
                <a:sym typeface="Golos Text"/>
              </a:rPr>
              <a:t>Юниорские хоккейные лиги Канады, 1048 игроков</a:t>
            </a:r>
            <a:endParaRPr/>
          </a:p>
        </p:txBody>
      </p:sp>
      <p:pic>
        <p:nvPicPr>
          <p:cNvPr descr="c4.png" id="276" name="Google Shape;276;h4820cdf94a74d4e4_0_2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691640"/>
            <a:ext cx="3566160" cy="1874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4a.png" id="277" name="Google Shape;277;h4820cdf94a74d4e4_0_2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" y="3639312"/>
            <a:ext cx="3413413" cy="2863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4b.png" id="278" name="Google Shape;278;h4820cdf94a74d4e4_0_2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8800" y="3998863"/>
            <a:ext cx="1447583" cy="420831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h4820cdf94a74d4e4_0_229"/>
          <p:cNvSpPr txBox="1"/>
          <p:nvPr/>
        </p:nvSpPr>
        <p:spPr>
          <a:xfrm>
            <a:off x="4709160" y="1188720"/>
            <a:ext cx="384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4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Модель «Талант против удачи»</a:t>
            </a:r>
            <a:endParaRPr/>
          </a:p>
        </p:txBody>
      </p:sp>
      <p:sp>
        <p:nvSpPr>
          <p:cNvPr id="280" name="Google Shape;280;h4820cdf94a74d4e4_0_229"/>
          <p:cNvSpPr txBox="1"/>
          <p:nvPr/>
        </p:nvSpPr>
        <p:spPr>
          <a:xfrm>
            <a:off x="4709160" y="1444752"/>
            <a:ext cx="384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5E5A66"/>
                </a:solidFill>
                <a:latin typeface="Golos Text"/>
                <a:ea typeface="Golos Text"/>
                <a:cs typeface="Golos Text"/>
                <a:sym typeface="Golos Text"/>
              </a:rPr>
              <a:t>1000 людей, 40 лет, случайные удачи и неудачи</a:t>
            </a:r>
            <a:endParaRPr/>
          </a:p>
        </p:txBody>
      </p:sp>
      <p:sp>
        <p:nvSpPr>
          <p:cNvPr id="281" name="Google Shape;281;h4820cdf94a74d4e4_0_229"/>
          <p:cNvSpPr/>
          <p:nvPr/>
        </p:nvSpPr>
        <p:spPr>
          <a:xfrm>
            <a:off x="4709160" y="1874519"/>
            <a:ext cx="3840600" cy="1051500"/>
          </a:xfrm>
          <a:prstGeom prst="roundRect">
            <a:avLst>
              <a:gd fmla="val 12000" name="adj"/>
            </a:avLst>
          </a:prstGeom>
          <a:noFill/>
          <a:ln cap="flat" cmpd="sng" w="19050">
            <a:solidFill>
              <a:srgbClr val="930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h4820cdf94a74d4e4_0_229"/>
          <p:cNvSpPr txBox="1"/>
          <p:nvPr/>
        </p:nvSpPr>
        <p:spPr>
          <a:xfrm>
            <a:off x="4892040" y="1874519"/>
            <a:ext cx="118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000" u="none" cap="none" strike="noStrike">
                <a:solidFill>
                  <a:srgbClr val="9307FE"/>
                </a:solidFill>
                <a:latin typeface="Golos Text"/>
                <a:ea typeface="Golos Text"/>
                <a:cs typeface="Golos Text"/>
                <a:sym typeface="Golos Text"/>
              </a:rPr>
              <a:t>0,61</a:t>
            </a:r>
            <a:endParaRPr/>
          </a:p>
        </p:txBody>
      </p:sp>
      <p:sp>
        <p:nvSpPr>
          <p:cNvPr id="283" name="Google Shape;283;h4820cdf94a74d4e4_0_229"/>
          <p:cNvSpPr txBox="1"/>
          <p:nvPr/>
        </p:nvSpPr>
        <p:spPr>
          <a:xfrm>
            <a:off x="6126480" y="1874519"/>
            <a:ext cx="22860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3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талант </a:t>
            </a:r>
            <a:r>
              <a:rPr b="1" i="0" lang="ru-RU" sz="13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самого богатого</a:t>
            </a:r>
            <a:r>
              <a:rPr b="0" i="0" lang="ru-RU" sz="13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 — почти средний (0,60)</a:t>
            </a:r>
            <a:endParaRPr/>
          </a:p>
        </p:txBody>
      </p:sp>
      <p:sp>
        <p:nvSpPr>
          <p:cNvPr id="284" name="Google Shape;284;h4820cdf94a74d4e4_0_229"/>
          <p:cNvSpPr/>
          <p:nvPr/>
        </p:nvSpPr>
        <p:spPr>
          <a:xfrm>
            <a:off x="4709160" y="2947385"/>
            <a:ext cx="3840600" cy="1051500"/>
          </a:xfrm>
          <a:prstGeom prst="roundRect">
            <a:avLst>
              <a:gd fmla="val 12000" name="adj"/>
            </a:avLst>
          </a:prstGeom>
          <a:noFill/>
          <a:ln cap="flat" cmpd="sng" w="19050">
            <a:solidFill>
              <a:srgbClr val="FF3E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h4820cdf94a74d4e4_0_229"/>
          <p:cNvSpPr txBox="1"/>
          <p:nvPr/>
        </p:nvSpPr>
        <p:spPr>
          <a:xfrm>
            <a:off x="4892040" y="3010585"/>
            <a:ext cx="118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000" u="none" cap="none" strike="noStrike">
                <a:solidFill>
                  <a:srgbClr val="FF3E35"/>
                </a:solidFill>
                <a:latin typeface="Golos Text"/>
                <a:ea typeface="Golos Text"/>
                <a:cs typeface="Golos Text"/>
                <a:sym typeface="Golos Text"/>
              </a:rPr>
              <a:t>0,89</a:t>
            </a:r>
            <a:endParaRPr/>
          </a:p>
        </p:txBody>
      </p:sp>
      <p:sp>
        <p:nvSpPr>
          <p:cNvPr id="286" name="Google Shape;286;h4820cdf94a74d4e4_0_229"/>
          <p:cNvSpPr txBox="1"/>
          <p:nvPr/>
        </p:nvSpPr>
        <p:spPr>
          <a:xfrm>
            <a:off x="6126480" y="3026335"/>
            <a:ext cx="22860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3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талант </a:t>
            </a:r>
            <a:r>
              <a:rPr b="1" i="0" lang="ru-RU" sz="13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самого способного</a:t>
            </a:r>
            <a:r>
              <a:rPr b="0" i="0" lang="ru-RU" sz="13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 — капитал упал с 10 до 0,6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"/>
          <p:cNvSpPr txBox="1"/>
          <p:nvPr>
            <p:ph type="title"/>
          </p:nvPr>
        </p:nvSpPr>
        <p:spPr>
          <a:xfrm>
            <a:off x="457200" y="18018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внимание!</a:t>
            </a:r>
            <a:endParaRPr sz="4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/>
              <a:t>Кто на пьедестале?</a:t>
            </a:r>
          </a:p>
        </p:txBody>
      </p:sp>
      <p:sp>
        <p:nvSpPr>
          <p:cNvPr id="11" name="Подзаголовок 11"/>
          <p:cNvSpPr txBox="1"/>
          <p:nvPr/>
        </p:nvSpPr>
        <p:spPr>
          <a:xfrm>
            <a:off x="594360" y="1161288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dirty="0">
                <a:solidFill>
                  <a:srgbClr val="5E5A66"/>
                </a:solidFill>
                <a:latin typeface="Golos Text"/>
                <a:ea typeface="Golos Text"/>
                <a:cs typeface="Golos Text"/>
                <a:sym typeface="Golos Text"/>
              </a:rPr>
              <a:t>1000 участников: 10 талантов (p = 0,75) и 990 обычных (p = 0,6), тест из 20 вопросов</a:t>
            </a:r>
          </a:p>
        </p:txBody>
      </p:sp>
      <p:pic>
        <p:nvPicPr>
          <p:cNvPr id="12" name="c1_podium.png" descr="Сколько человек в среднем набирает от 14 до 20 баллов: в призовой зоне обычных участников больше, чем талантов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3246120" cy="2194560"/>
          </a:xfrm>
          <a:prstGeom prst="rect">
            <a:avLst/>
          </a:prstGeom>
        </p:spPr>
      </p:pic>
      <p:pic>
        <p:nvPicPr>
          <p:cNvPr id="13" name="m1_drake.jpg" descr="Мем Drake: призовая зона отворачивается от 10 талантов с p = 0,75 и выбирает 990 обычных с p = 0,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1517904"/>
            <a:ext cx="2103120" cy="2103120"/>
          </a:xfrm>
          <a:prstGeom prst="rect">
            <a:avLst/>
          </a:prstGeom>
        </p:spPr>
      </p:pic>
      <p:sp>
        <p:nvSpPr>
          <p:cNvPr id="14" name="Рамка 14"/>
          <p:cNvSpPr/>
          <p:nvPr/>
        </p:nvSpPr>
        <p:spPr>
          <a:xfrm>
            <a:off x="6217920" y="1481328"/>
            <a:ext cx="2286000" cy="1033272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FF3E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5" name="Число 15"/>
          <p:cNvSpPr txBox="1"/>
          <p:nvPr/>
        </p:nvSpPr>
        <p:spPr>
          <a:xfrm>
            <a:off x="6327648" y="1572768"/>
            <a:ext cx="20665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FF3E35"/>
                </a:solidFill>
                <a:latin typeface="Golos Text"/>
                <a:ea typeface="Golos Text"/>
                <a:cs typeface="Golos Text"/>
                <a:sym typeface="Golos Text"/>
              </a:rPr>
              <a:t>74%</a:t>
            </a:r>
          </a:p>
        </p:txBody>
      </p:sp>
      <p:sp>
        <p:nvSpPr>
          <p:cNvPr id="16" name="Пояснение 16"/>
          <p:cNvSpPr txBox="1"/>
          <p:nvPr/>
        </p:nvSpPr>
        <p:spPr>
          <a:xfrm>
            <a:off x="6355080" y="2057400"/>
            <a:ext cx="201168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побед достаются </a:t>
            </a:r>
            <a:r>
              <a:rPr lang="ru-RU" sz="1200" b="1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обычным</a:t>
            </a:r>
          </a:p>
        </p:txBody>
      </p:sp>
      <p:sp>
        <p:nvSpPr>
          <p:cNvPr id="17" name="Рамка 17"/>
          <p:cNvSpPr/>
          <p:nvPr/>
        </p:nvSpPr>
        <p:spPr>
          <a:xfrm>
            <a:off x="6217920" y="2624328"/>
            <a:ext cx="2286000" cy="1033272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9307F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8" name="Число 18"/>
          <p:cNvSpPr txBox="1"/>
          <p:nvPr/>
        </p:nvSpPr>
        <p:spPr>
          <a:xfrm>
            <a:off x="6327648" y="2715768"/>
            <a:ext cx="20665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9307FE"/>
                </a:solidFill>
                <a:latin typeface="Golos Text"/>
                <a:ea typeface="Golos Text"/>
                <a:cs typeface="Golos Text"/>
                <a:sym typeface="Golos Text"/>
              </a:rPr>
              <a:t>1,5</a:t>
            </a:r>
          </a:p>
        </p:txBody>
      </p:sp>
      <p:sp>
        <p:nvSpPr>
          <p:cNvPr id="19" name="Пояснение 19"/>
          <p:cNvSpPr txBox="1"/>
          <p:nvPr/>
        </p:nvSpPr>
        <p:spPr>
          <a:xfrm>
            <a:off x="6355080" y="3200400"/>
            <a:ext cx="201168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таланта из 10 в </a:t>
            </a:r>
            <a:r>
              <a:rPr lang="ru-RU" sz="1200" b="1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топ-10</a:t>
            </a:r>
          </a:p>
        </p:txBody>
      </p:sp>
      <p:pic>
        <p:nvPicPr>
          <p:cNvPr id="20" name="f1_count.png" descr="M(число набравших k) = N·C(n,k)·p^k·q^(n−k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931920"/>
            <a:ext cx="3328416" cy="411480"/>
          </a:xfrm>
          <a:prstGeom prst="rect">
            <a:avLst/>
          </a:prstGeom>
        </p:spPr>
      </p:pic>
      <p:sp>
        <p:nvSpPr>
          <p:cNvPr id="21" name="Рамка 21"/>
          <p:cNvSpPr/>
          <p:nvPr/>
        </p:nvSpPr>
        <p:spPr>
          <a:xfrm>
            <a:off x="3931920" y="3749040"/>
            <a:ext cx="4572000" cy="77724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9307F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2" name="Число 22"/>
          <p:cNvSpPr txBox="1"/>
          <p:nvPr/>
        </p:nvSpPr>
        <p:spPr>
          <a:xfrm>
            <a:off x="4114800" y="3749040"/>
            <a:ext cx="12344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b="1" i="0" dirty="0">
                <a:solidFill>
                  <a:srgbClr val="9307FE"/>
                </a:solidFill>
                <a:latin typeface="Golos Text"/>
                <a:ea typeface="Golos Text"/>
                <a:cs typeface="Golos Text"/>
                <a:sym typeface="Golos Text"/>
              </a:rPr>
              <a:t>×35</a:t>
            </a:r>
          </a:p>
        </p:txBody>
      </p:sp>
      <p:sp>
        <p:nvSpPr>
          <p:cNvPr id="23" name="Пояснение 23"/>
          <p:cNvSpPr txBox="1"/>
          <p:nvPr/>
        </p:nvSpPr>
        <p:spPr>
          <a:xfrm>
            <a:off x="5394960" y="3822192"/>
            <a:ext cx="2926080" cy="6309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чаще побеждает </a:t>
            </a:r>
            <a:r>
              <a:rPr lang="ru-RU" sz="1300" b="1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отдельный талант</a:t>
            </a:r>
            <a:r>
              <a:rPr lang="ru-RU" sz="13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, но обычных в 99 раз больше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/>
              <a:t>Проклятие победителя</a:t>
            </a:r>
          </a:p>
        </p:txBody>
      </p:sp>
      <p:sp>
        <p:nvSpPr>
          <p:cNvPr id="11" name="Подзаголовок 11"/>
          <p:cNvSpPr txBox="1"/>
          <p:nvPr/>
        </p:nvSpPr>
        <p:spPr>
          <a:xfrm>
            <a:off x="594360" y="1161288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dirty="0">
                <a:solidFill>
                  <a:srgbClr val="5E5A66"/>
                </a:solidFill>
                <a:latin typeface="Golos Text"/>
                <a:ea typeface="Golos Text"/>
                <a:cs typeface="Golos Text"/>
                <a:sym typeface="Golos Text"/>
              </a:rPr>
              <a:t>Победитель — это ещё и самый везучий, поэтому его балл завышает способности</a:t>
            </a:r>
          </a:p>
        </p:txBody>
      </p:sp>
      <p:pic>
        <p:nvPicPr>
          <p:cNvPr id="12" name="c2_curse.png" descr="Доля верных ответов у победителя и его настоящая способность в зависимости от длины теста: при 20 вопросах 93% против 64%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3246120" cy="2194560"/>
          </a:xfrm>
          <a:prstGeom prst="rect">
            <a:avLst/>
          </a:prstGeom>
        </p:spPr>
      </p:pic>
      <p:pic>
        <p:nvPicPr>
          <p:cNvPr id="13" name="m2_pigeon.jpg" descr="Мем «Is this a pigeon?»: мы смотрим на результат 19 из 20 и спрашиваем: это гений?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1625247"/>
            <a:ext cx="2103120" cy="1888435"/>
          </a:xfrm>
          <a:prstGeom prst="rect">
            <a:avLst/>
          </a:prstGeom>
        </p:spPr>
      </p:pic>
      <p:sp>
        <p:nvSpPr>
          <p:cNvPr id="14" name="Рамка 14"/>
          <p:cNvSpPr/>
          <p:nvPr/>
        </p:nvSpPr>
        <p:spPr>
          <a:xfrm>
            <a:off x="6217920" y="1481328"/>
            <a:ext cx="2286000" cy="1033272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9307F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5" name="Число 15"/>
          <p:cNvSpPr txBox="1"/>
          <p:nvPr/>
        </p:nvSpPr>
        <p:spPr>
          <a:xfrm>
            <a:off x="6327648" y="1572768"/>
            <a:ext cx="20665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9307FE"/>
                </a:solidFill>
                <a:latin typeface="Golos Text"/>
                <a:ea typeface="Golos Text"/>
                <a:cs typeface="Golos Text"/>
                <a:sym typeface="Golos Text"/>
              </a:rPr>
              <a:t>93%</a:t>
            </a:r>
          </a:p>
        </p:txBody>
      </p:sp>
      <p:sp>
        <p:nvSpPr>
          <p:cNvPr id="16" name="Пояснение 16"/>
          <p:cNvSpPr txBox="1"/>
          <p:nvPr/>
        </p:nvSpPr>
        <p:spPr>
          <a:xfrm>
            <a:off x="6355080" y="2057400"/>
            <a:ext cx="201168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видим: балл </a:t>
            </a:r>
            <a:r>
              <a:rPr lang="ru-RU" sz="1200" b="1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победителя</a:t>
            </a:r>
          </a:p>
        </p:txBody>
      </p:sp>
      <p:sp>
        <p:nvSpPr>
          <p:cNvPr id="17" name="Рамка 17"/>
          <p:cNvSpPr/>
          <p:nvPr/>
        </p:nvSpPr>
        <p:spPr>
          <a:xfrm>
            <a:off x="6217920" y="2624328"/>
            <a:ext cx="2286000" cy="1033272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FF3E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8" name="Число 18"/>
          <p:cNvSpPr txBox="1"/>
          <p:nvPr/>
        </p:nvSpPr>
        <p:spPr>
          <a:xfrm>
            <a:off x="6327648" y="2715768"/>
            <a:ext cx="20665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FF3E35"/>
                </a:solidFill>
                <a:latin typeface="Golos Text"/>
                <a:ea typeface="Golos Text"/>
                <a:cs typeface="Golos Text"/>
                <a:sym typeface="Golos Text"/>
              </a:rPr>
              <a:t>64%</a:t>
            </a:r>
          </a:p>
        </p:txBody>
      </p:sp>
      <p:sp>
        <p:nvSpPr>
          <p:cNvPr id="19" name="Пояснение 19"/>
          <p:cNvSpPr txBox="1"/>
          <p:nvPr/>
        </p:nvSpPr>
        <p:spPr>
          <a:xfrm>
            <a:off x="6355080" y="3200400"/>
            <a:ext cx="201168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на деле: его </a:t>
            </a:r>
            <a:r>
              <a:rPr lang="ru-RU" sz="1200" b="1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способность</a:t>
            </a:r>
          </a:p>
        </p:txBody>
      </p:sp>
      <p:sp>
        <p:nvSpPr>
          <p:cNvPr id="20" name="Подпись 20"/>
          <p:cNvSpPr txBox="1"/>
          <p:nvPr/>
        </p:nvSpPr>
        <p:spPr>
          <a:xfrm>
            <a:off x="594360" y="3749040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dirty="0">
                <a:solidFill>
                  <a:srgbClr val="5E5A66"/>
                </a:solidFill>
                <a:latin typeface="Golos Text"/>
                <a:ea typeface="Golos Text"/>
                <a:cs typeface="Golos Text"/>
                <a:sym typeface="Golos Text"/>
              </a:rPr>
              <a:t>Муавр–Лаплас: лучший из 1000 одинаковых, p = 0,6</a:t>
            </a:r>
          </a:p>
        </p:txBody>
      </p:sp>
      <p:pic>
        <p:nvPicPr>
          <p:cNvPr id="21" name="f2_ml.png" descr="k_max ≈ np + z·√(npq), где 1 − Φ(z) = 1/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950208"/>
            <a:ext cx="3172968" cy="585216"/>
          </a:xfrm>
          <a:prstGeom prst="rect">
            <a:avLst/>
          </a:prstGeom>
        </p:spPr>
      </p:pic>
      <p:pic>
        <p:nvPicPr>
          <p:cNvPr id="22" name="f2_ml_num.png" descr="k_max ≈ 12 + 3,09·√4,8 ≈ 18,8 из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0" y="4041648"/>
            <a:ext cx="3078480" cy="4145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/>
              <a:t>Регрессия к среднему</a:t>
            </a:r>
          </a:p>
        </p:txBody>
      </p:sp>
      <p:sp>
        <p:nvSpPr>
          <p:cNvPr id="11" name="Подзаголовок 11"/>
          <p:cNvSpPr txBox="1"/>
          <p:nvPr/>
        </p:nvSpPr>
        <p:spPr>
          <a:xfrm>
            <a:off x="594360" y="1161288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dirty="0">
                <a:solidFill>
                  <a:srgbClr val="5E5A66"/>
                </a:solidFill>
                <a:latin typeface="Golos Text"/>
                <a:ea typeface="Golos Text"/>
                <a:cs typeface="Golos Text"/>
                <a:sym typeface="Golos Text"/>
              </a:rPr>
              <a:t>Топ-10 первого тура пишет второй тест той же длины (средние по 100 000 симуляций)</a:t>
            </a:r>
          </a:p>
        </p:txBody>
      </p:sp>
      <p:pic>
        <p:nvPicPr>
          <p:cNvPr id="12" name="c3_regression.png" descr="Средний балл топ-10 в первом и втором туре: падение с 17,5 до 12,4, победитель — с 18,6 до 12,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3246120" cy="2194560"/>
          </a:xfrm>
          <a:prstGeom prst="rect">
            <a:avLst/>
          </a:prstGeom>
        </p:spPr>
      </p:pic>
      <p:pic>
        <p:nvPicPr>
          <p:cNvPr id="13" name="m3_doge.jpg" descr="Мем Buff Doge vs Cheems: победитель в первом туре и он же во втором тур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1795103"/>
            <a:ext cx="2103120" cy="1548722"/>
          </a:xfrm>
          <a:prstGeom prst="rect">
            <a:avLst/>
          </a:prstGeom>
        </p:spPr>
      </p:pic>
      <p:sp>
        <p:nvSpPr>
          <p:cNvPr id="14" name="Рамка 14"/>
          <p:cNvSpPr/>
          <p:nvPr/>
        </p:nvSpPr>
        <p:spPr>
          <a:xfrm>
            <a:off x="6217920" y="1481328"/>
            <a:ext cx="2286000" cy="1033272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FF3E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5" name="Число 15"/>
          <p:cNvSpPr txBox="1"/>
          <p:nvPr/>
        </p:nvSpPr>
        <p:spPr>
          <a:xfrm>
            <a:off x="6327648" y="1572768"/>
            <a:ext cx="20665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FF3E35"/>
                </a:solidFill>
                <a:latin typeface="Golos Text"/>
                <a:ea typeface="Golos Text"/>
                <a:cs typeface="Golos Text"/>
                <a:sym typeface="Golos Text"/>
              </a:rPr>
              <a:t>0,7%</a:t>
            </a:r>
          </a:p>
        </p:txBody>
      </p:sp>
      <p:sp>
        <p:nvSpPr>
          <p:cNvPr id="16" name="Пояснение 16"/>
          <p:cNvSpPr txBox="1"/>
          <p:nvPr/>
        </p:nvSpPr>
        <p:spPr>
          <a:xfrm>
            <a:off x="6355080" y="2057400"/>
            <a:ext cx="201168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шанс </a:t>
            </a:r>
            <a:r>
              <a:rPr lang="ru-RU" sz="1200" b="1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выиграть снова</a:t>
            </a:r>
          </a:p>
        </p:txBody>
      </p:sp>
      <p:sp>
        <p:nvSpPr>
          <p:cNvPr id="17" name="Рамка 17"/>
          <p:cNvSpPr/>
          <p:nvPr/>
        </p:nvSpPr>
        <p:spPr>
          <a:xfrm>
            <a:off x="6217920" y="2624328"/>
            <a:ext cx="2286000" cy="1033272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9307F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8" name="Число 18"/>
          <p:cNvSpPr txBox="1"/>
          <p:nvPr/>
        </p:nvSpPr>
        <p:spPr>
          <a:xfrm>
            <a:off x="6327648" y="2715768"/>
            <a:ext cx="20665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9307FE"/>
                </a:solidFill>
                <a:latin typeface="Golos Text"/>
                <a:ea typeface="Golos Text"/>
                <a:cs typeface="Golos Text"/>
                <a:sym typeface="Golos Text"/>
              </a:rPr>
              <a:t>26%</a:t>
            </a:r>
          </a:p>
        </p:txBody>
      </p:sp>
      <p:sp>
        <p:nvSpPr>
          <p:cNvPr id="19" name="Пояснение 19"/>
          <p:cNvSpPr txBox="1"/>
          <p:nvPr/>
        </p:nvSpPr>
        <p:spPr>
          <a:xfrm>
            <a:off x="6355080" y="3200400"/>
            <a:ext cx="201168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шанс, что победитель — </a:t>
            </a:r>
            <a:r>
              <a:rPr lang="ru-RU" sz="1200" b="1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талант</a:t>
            </a:r>
          </a:p>
        </p:txBody>
      </p:sp>
      <p:sp>
        <p:nvSpPr>
          <p:cNvPr id="20" name="Текст 20"/>
          <p:cNvSpPr txBox="1"/>
          <p:nvPr/>
        </p:nvSpPr>
        <p:spPr>
          <a:xfrm>
            <a:off x="594360" y="374904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Балл = способность + удача</a:t>
            </a:r>
          </a:p>
        </p:txBody>
      </p:sp>
      <p:pic>
        <p:nvPicPr>
          <p:cNvPr id="21" name="f3_reg.png" descr="X = np + ε, Mε = 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041648"/>
            <a:ext cx="1984248" cy="393192"/>
          </a:xfrm>
          <a:prstGeom prst="rect">
            <a:avLst/>
          </a:prstGeom>
        </p:spPr>
      </p:pic>
      <p:pic>
        <p:nvPicPr>
          <p:cNvPr id="22" name="f3_reg2.png" descr="M(ε₁ | победил) &gt; 0, M(ε₂ | победил) = 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0" y="4041648"/>
            <a:ext cx="3523488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/>
              <a:t>Ошибка выжившего</a:t>
            </a:r>
          </a:p>
        </p:txBody>
      </p:sp>
      <p:sp>
        <p:nvSpPr>
          <p:cNvPr id="11" name="Подзаголовок 11"/>
          <p:cNvSpPr txBox="1"/>
          <p:nvPr/>
        </p:nvSpPr>
        <p:spPr>
          <a:xfrm>
            <a:off x="594360" y="1161288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dirty="0">
                <a:solidFill>
                  <a:srgbClr val="5E5A66"/>
                </a:solidFill>
                <a:latin typeface="Golos Text"/>
                <a:ea typeface="Golos Text"/>
                <a:cs typeface="Golos Text"/>
                <a:sym typeface="Golos Text"/>
              </a:rPr>
              <a:t>1000 трейдеров 10 дней подряд угадывают рынок, подбрасывая честную монетку</a:t>
            </a:r>
          </a:p>
        </p:txBody>
      </p:sp>
      <p:pic>
        <p:nvPicPr>
          <p:cNvPr id="12" name="c4_traders.png" descr="Сколько трейдеров угадали все дни подряд: 1000, 500, 250, … и к десятому дню в среднем 0,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3246120" cy="2194560"/>
          </a:xfrm>
          <a:prstGeom prst="rect">
            <a:avLst/>
          </a:prstGeom>
        </p:spPr>
      </p:pic>
      <p:pic>
        <p:nvPicPr>
          <p:cNvPr id="13" name="m4_plane.png" descr="Самолёт Вальда: пробоины видны только у вернувшихся самолётов, бронировать нужно там, где дыр не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1482852"/>
            <a:ext cx="2103120" cy="2173224"/>
          </a:xfrm>
          <a:prstGeom prst="rect">
            <a:avLst/>
          </a:prstGeom>
        </p:spPr>
      </p:pic>
      <p:sp>
        <p:nvSpPr>
          <p:cNvPr id="14" name="Рамка 14"/>
          <p:cNvSpPr/>
          <p:nvPr/>
        </p:nvSpPr>
        <p:spPr>
          <a:xfrm>
            <a:off x="6217920" y="1481328"/>
            <a:ext cx="2286000" cy="1033272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FF3E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5" name="Число 15"/>
          <p:cNvSpPr txBox="1"/>
          <p:nvPr/>
        </p:nvSpPr>
        <p:spPr>
          <a:xfrm>
            <a:off x="6327648" y="1572768"/>
            <a:ext cx="20665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FF3E35"/>
                </a:solidFill>
                <a:latin typeface="Golos Text"/>
                <a:ea typeface="Golos Text"/>
                <a:cs typeface="Golos Text"/>
                <a:sym typeface="Golos Text"/>
              </a:rPr>
              <a:t>0,62</a:t>
            </a:r>
          </a:p>
        </p:txBody>
      </p:sp>
      <p:sp>
        <p:nvSpPr>
          <p:cNvPr id="16" name="Пояснение 16"/>
          <p:cNvSpPr txBox="1"/>
          <p:nvPr/>
        </p:nvSpPr>
        <p:spPr>
          <a:xfrm>
            <a:off x="6355080" y="2057400"/>
            <a:ext cx="201168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шанс, что найдётся </a:t>
            </a:r>
            <a:r>
              <a:rPr lang="ru-RU" sz="1200" b="1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«гений» 10 из 10</a:t>
            </a:r>
          </a:p>
        </p:txBody>
      </p:sp>
      <p:sp>
        <p:nvSpPr>
          <p:cNvPr id="17" name="Рамка 17"/>
          <p:cNvSpPr/>
          <p:nvPr/>
        </p:nvSpPr>
        <p:spPr>
          <a:xfrm>
            <a:off x="6217920" y="2624328"/>
            <a:ext cx="2286000" cy="1033272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9307F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8" name="Число 18"/>
          <p:cNvSpPr txBox="1"/>
          <p:nvPr/>
        </p:nvSpPr>
        <p:spPr>
          <a:xfrm>
            <a:off x="6327648" y="2715768"/>
            <a:ext cx="20665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9307FE"/>
                </a:solidFill>
                <a:latin typeface="Golos Text"/>
                <a:ea typeface="Golos Text"/>
                <a:cs typeface="Golos Text"/>
                <a:sym typeface="Golos Text"/>
              </a:rPr>
              <a:t>5%</a:t>
            </a:r>
          </a:p>
        </p:txBody>
      </p:sp>
      <p:sp>
        <p:nvSpPr>
          <p:cNvPr id="19" name="Пояснение 19"/>
          <p:cNvSpPr txBox="1"/>
          <p:nvPr/>
        </p:nvSpPr>
        <p:spPr>
          <a:xfrm>
            <a:off x="6355080" y="3200400"/>
            <a:ext cx="201168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шанс, что «гений» — </a:t>
            </a:r>
            <a:r>
              <a:rPr lang="ru-RU" sz="1200" b="1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настоящий талант</a:t>
            </a:r>
          </a:p>
        </p:txBody>
      </p:sp>
      <p:sp>
        <p:nvSpPr>
          <p:cNvPr id="20" name="Подпись 20"/>
          <p:cNvSpPr txBox="1"/>
          <p:nvPr/>
        </p:nvSpPr>
        <p:spPr>
          <a:xfrm>
            <a:off x="594360" y="374904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dirty="0">
                <a:solidFill>
                  <a:srgbClr val="5E5A66"/>
                </a:solidFill>
                <a:latin typeface="Golos Text"/>
                <a:ea typeface="Golos Text"/>
                <a:cs typeface="Golos Text"/>
                <a:sym typeface="Golos Text"/>
              </a:rPr>
              <a:t>X — число «гениев» среди 1000 монеток</a:t>
            </a:r>
          </a:p>
        </p:txBody>
      </p:sp>
      <p:pic>
        <p:nvPicPr>
          <p:cNvPr id="21" name="f4_atleast.png" descr="P(X ≥ 1) = 1 − (1 − 2^(−10))^1000 ≈ 0,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041648"/>
            <a:ext cx="2916936" cy="393192"/>
          </a:xfrm>
          <a:prstGeom prst="rect">
            <a:avLst/>
          </a:prstGeom>
        </p:spPr>
      </p:pic>
      <p:sp>
        <p:nvSpPr>
          <p:cNvPr id="22" name="Подпись 22"/>
          <p:cNvSpPr txBox="1"/>
          <p:nvPr/>
        </p:nvSpPr>
        <p:spPr>
          <a:xfrm>
            <a:off x="3931920" y="37490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dirty="0">
                <a:solidFill>
                  <a:srgbClr val="5E5A66"/>
                </a:solidFill>
                <a:latin typeface="Golos Text"/>
                <a:ea typeface="Golos Text"/>
                <a:cs typeface="Golos Text"/>
                <a:sym typeface="Golos Text"/>
              </a:rPr>
              <a:t>Если среди них есть один талант с p = 0,75:</a:t>
            </a:r>
          </a:p>
        </p:txBody>
      </p:sp>
      <p:pic>
        <p:nvPicPr>
          <p:cNvPr id="23" name="f4_bayes.png" descr="P(талант | 10 из 10) = 0,75^10 / (0,75^10 + 999·2^(−10)) ≈ 0,0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0" y="3931920"/>
            <a:ext cx="3956304" cy="6705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/>
              <a:t>Так судить ли победителей?</a:t>
            </a:r>
          </a:p>
        </p:txBody>
      </p:sp>
      <p:sp>
        <p:nvSpPr>
          <p:cNvPr id="11" name="Подзаголовок 11"/>
          <p:cNvSpPr txBox="1"/>
          <p:nvPr/>
        </p:nvSpPr>
        <p:spPr>
          <a:xfrm>
            <a:off x="594360" y="1161288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dirty="0">
                <a:solidFill>
                  <a:srgbClr val="5E5A66"/>
                </a:solidFill>
                <a:latin typeface="Golos Text"/>
                <a:ea typeface="Golos Text"/>
                <a:cs typeface="Golos Text"/>
                <a:sym typeface="Golos Text"/>
              </a:rPr>
              <a:t>Главный вопрос: честно ли награждать победителей и считать проигравших менее достойными?</a:t>
            </a:r>
          </a:p>
        </p:txBody>
      </p:sp>
      <p:sp>
        <p:nvSpPr>
          <p:cNvPr id="12" name="Рамка 12"/>
          <p:cNvSpPr/>
          <p:nvPr/>
        </p:nvSpPr>
        <p:spPr>
          <a:xfrm>
            <a:off x="594360" y="1508760"/>
            <a:ext cx="1874520" cy="224028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9307F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3" name="Текст 13"/>
          <p:cNvSpPr txBox="1"/>
          <p:nvPr/>
        </p:nvSpPr>
        <p:spPr>
          <a:xfrm>
            <a:off x="758952" y="1645920"/>
            <a:ext cx="154533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9307FE"/>
                </a:solidFill>
                <a:latin typeface="Golos Text"/>
                <a:ea typeface="Golos Text"/>
                <a:cs typeface="Golos Text"/>
                <a:sym typeface="Golos Text"/>
              </a:rPr>
              <a:t>Модель</a:t>
            </a:r>
          </a:p>
        </p:txBody>
      </p:sp>
      <p:sp>
        <p:nvSpPr>
          <p:cNvPr id="14" name="Рамка 14"/>
          <p:cNvSpPr/>
          <p:nvPr/>
        </p:nvSpPr>
        <p:spPr>
          <a:xfrm>
            <a:off x="2606040" y="1508760"/>
            <a:ext cx="1874520" cy="224028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FF3E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5" name="Текст 15"/>
          <p:cNvSpPr txBox="1"/>
          <p:nvPr/>
        </p:nvSpPr>
        <p:spPr>
          <a:xfrm>
            <a:off x="2770632" y="1645920"/>
            <a:ext cx="154533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FF3E35"/>
                </a:solidFill>
                <a:latin typeface="Golos Text"/>
                <a:ea typeface="Golos Text"/>
                <a:cs typeface="Golos Text"/>
                <a:sym typeface="Golos Text"/>
              </a:rPr>
              <a:t>Наш опыт</a:t>
            </a:r>
          </a:p>
        </p:txBody>
      </p:sp>
      <p:sp>
        <p:nvSpPr>
          <p:cNvPr id="16" name="Рамка 16"/>
          <p:cNvSpPr/>
          <p:nvPr/>
        </p:nvSpPr>
        <p:spPr>
          <a:xfrm>
            <a:off x="4617720" y="1508760"/>
            <a:ext cx="1874520" cy="224028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9307F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7" name="Текст 17"/>
          <p:cNvSpPr txBox="1"/>
          <p:nvPr/>
        </p:nvSpPr>
        <p:spPr>
          <a:xfrm>
            <a:off x="4782312" y="1645920"/>
            <a:ext cx="154533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9307FE"/>
                </a:solidFill>
                <a:latin typeface="Golos Text"/>
                <a:ea typeface="Golos Text"/>
                <a:cs typeface="Golos Text"/>
                <a:sym typeface="Golos Text"/>
              </a:rPr>
              <a:t>Как честнее</a:t>
            </a:r>
          </a:p>
        </p:txBody>
      </p:sp>
      <p:pic>
        <p:nvPicPr>
          <p:cNvPr id="18" name="f5_sigma.png" descr="σ(X/n) = √(pq/n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011680"/>
            <a:ext cx="1187806" cy="548640"/>
          </a:xfrm>
          <a:prstGeom prst="rect">
            <a:avLst/>
          </a:prstGeom>
        </p:spPr>
      </p:pic>
      <p:sp>
        <p:nvSpPr>
          <p:cNvPr id="19" name="Текст 19"/>
          <p:cNvSpPr txBox="1"/>
          <p:nvPr/>
        </p:nvSpPr>
        <p:spPr>
          <a:xfrm>
            <a:off x="758952" y="2697480"/>
            <a:ext cx="1545336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Короче испытание — </a:t>
            </a:r>
            <a:r>
              <a:rPr lang="ru-RU" sz="1200" b="1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больше удачи</a:t>
            </a: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 в итоге</a:t>
            </a:r>
          </a:p>
        </p:txBody>
      </p:sp>
      <p:sp>
        <p:nvSpPr>
          <p:cNvPr id="20" name="Текст 20"/>
          <p:cNvSpPr txBox="1"/>
          <p:nvPr/>
        </p:nvSpPr>
        <p:spPr>
          <a:xfrm>
            <a:off x="2770632" y="2011680"/>
            <a:ext cx="1545336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Экзамен за день — </a:t>
            </a:r>
            <a:r>
              <a:rPr lang="ru-RU" sz="1200" b="1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короткий</a:t>
            </a: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 тест</a:t>
            </a: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Рейтинг за семестр — </a:t>
            </a:r>
            <a:r>
              <a:rPr lang="ru-RU" sz="1200" b="1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длинный</a:t>
            </a:r>
          </a:p>
        </p:txBody>
      </p:sp>
      <p:sp>
        <p:nvSpPr>
          <p:cNvPr id="21" name="Текст 21"/>
          <p:cNvSpPr txBox="1"/>
          <p:nvPr/>
        </p:nvSpPr>
        <p:spPr>
          <a:xfrm>
            <a:off x="4782312" y="2011680"/>
            <a:ext cx="1545336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28600" indent="-22860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9307FE"/>
              </a:buClr>
              <a:buFont typeface="Arial"/>
              <a:buChar char="•"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длинные тесты</a:t>
            </a:r>
          </a:p>
          <a:p>
            <a:pPr marL="228600" indent="-22860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9307FE"/>
              </a:buClr>
              <a:buFont typeface="Arial"/>
              <a:buChar char="•"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несколько туров</a:t>
            </a:r>
          </a:p>
          <a:p>
            <a:pPr marL="228600" indent="-22860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9307FE"/>
              </a:buClr>
              <a:buFont typeface="Arial"/>
              <a:buChar char="•"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пересдачи</a:t>
            </a:r>
          </a:p>
          <a:p>
            <a:pPr marL="22860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07FE"/>
              </a:buClr>
              <a:buFont typeface="Arial"/>
              <a:buChar char="•"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сумма попыток</a:t>
            </a:r>
          </a:p>
        </p:txBody>
      </p:sp>
      <p:pic>
        <p:nvPicPr>
          <p:cNvPr id="22" name="m5_panik.jpg" descr="Мем Panik–Kalm–Panik: завалил экзамен; вспомнил про регрессию к среднему; пересдачи не буде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728" y="1508760"/>
            <a:ext cx="1887192" cy="2240280"/>
          </a:xfrm>
          <a:prstGeom prst="rect">
            <a:avLst/>
          </a:prstGeom>
        </p:spPr>
      </p:pic>
      <p:sp>
        <p:nvSpPr>
          <p:cNvPr id="23" name="Рамка 23"/>
          <p:cNvSpPr/>
          <p:nvPr/>
        </p:nvSpPr>
        <p:spPr>
          <a:xfrm>
            <a:off x="594360" y="3904488"/>
            <a:ext cx="7909560" cy="621792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FF3E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4" name="Текст 24"/>
          <p:cNvSpPr txBox="1"/>
          <p:nvPr/>
        </p:nvSpPr>
        <p:spPr>
          <a:xfrm>
            <a:off x="777240" y="3904488"/>
            <a:ext cx="754380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Наградить победителя — можно. Списать проигравшего по одной попытке — </a:t>
            </a:r>
            <a:r>
              <a:rPr lang="ru-RU" sz="1400" b="1" i="0" dirty="0">
                <a:solidFill>
                  <a:srgbClr val="FF3E35"/>
                </a:solidFill>
                <a:latin typeface="Golos Text"/>
                <a:ea typeface="Golos Text"/>
                <a:cs typeface="Golos Text"/>
                <a:sym typeface="Golos Text"/>
              </a:rPr>
              <a:t>нельзя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2014-06-27T12:30:22Z</dcterms:created>
  <dc:creator>Al</dc:creator>
</cp:coreProperties>
</file>