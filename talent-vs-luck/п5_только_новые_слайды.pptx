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8.xml" ContentType="application/vnd.openxmlformats-officedocument.presentationml.slide+xml"/>
  <Override ContentType="application/vnd.openxmlformats-officedocument.presentationml.notesSlide+xml" PartName="/ppt/notesSlides/notesSlide18.xml"/>
  <Override PartName="/ppt/slides/slide19.xml" ContentType="application/vnd.openxmlformats-officedocument.presentationml.slide+xml"/>
  <Override ContentType="application/vnd.openxmlformats-officedocument.presentationml.notesSlide+xml" PartName="/ppt/notesSlides/notesSlide19.xml"/>
  <Override PartName="/ppt/slides/slide20.xml" ContentType="application/vnd.openxmlformats-officedocument.presentationml.slide+xml"/>
  <Override ContentType="application/vnd.openxmlformats-officedocument.presentationml.notesSlide+xml" PartName="/ppt/notesSlides/notesSlide20.xml"/>
  <Override PartName="/ppt/slides/slide21.xml" ContentType="application/vnd.openxmlformats-officedocument.presentationml.slide+xml"/>
  <Override ContentType="application/vnd.openxmlformats-officedocument.presentationml.notesSlide+xml" PartName="/ppt/notesSlides/notesSlide21.xml"/>
  <Override PartName="/ppt/slides/slide22.xml" ContentType="application/vnd.openxmlformats-officedocument.presentationml.slide+xml"/>
  <Override ContentType="application/vnd.openxmlformats-officedocument.presentationml.notesSlide+xml" PartName="/ppt/notesSlides/notesSlide2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73" r:id="rId30"/>
    <p:sldId id="274" r:id="rId31"/>
    <p:sldId id="275" r:id="rId32"/>
    <p:sldId id="276" r:id="rId33"/>
    <p:sldId id="277" r:id="rId34"/>
  </p:sldIdLst>
  <p:sldSz cy="5143500" cx="9144000"/>
  <p:notesSz cx="6858000" cy="9144000"/>
  <p:embeddedFontLst>
    <p:embeddedFont>
      <p:font typeface="Golos Text"/>
      <p:regular r:id="rId23"/>
      <p:bold r:id="rId24"/>
    </p:embeddedFont>
    <p:embeddedFont>
      <p:font typeface="Comfortaa SemiBold"/>
      <p:regular r:id="rId25"/>
      <p:bold r:id="rId26"/>
    </p:embeddedFont>
    <p:embeddedFont>
      <p:font typeface="Golos Tex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GwCNj16G+A5RzvglxM7/NyKMR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?><Relationships xmlns="http://schemas.openxmlformats.org/package/2006/relationships"><Relationship Id="rId24" Type="http://schemas.openxmlformats.org/officeDocument/2006/relationships/font" Target="fonts/GolosText-bold.fntdata"/><Relationship Id="rId23" Type="http://schemas.openxmlformats.org/officeDocument/2006/relationships/font" Target="fonts/GolosTex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6" Type="http://schemas.openxmlformats.org/officeDocument/2006/relationships/font" Target="fonts/ComfortaaSemiBold-bold.fntdata"/><Relationship Id="rId25" Type="http://schemas.openxmlformats.org/officeDocument/2006/relationships/font" Target="fonts/ComfortaaSemiBold-regular.fntdata"/><Relationship Id="rId28" Type="http://schemas.openxmlformats.org/officeDocument/2006/relationships/font" Target="fonts/GolosTextSemiBold-bold.fntdata"/><Relationship Id="rId27" Type="http://schemas.openxmlformats.org/officeDocument/2006/relationships/font" Target="fonts/GolosTextSemiBold-regular.fntdata"/><Relationship Id="rId5" Type="http://schemas.openxmlformats.org/officeDocument/2006/relationships/notesMaster" Target="notesMasters/notesMaster1.xml"/><Relationship Id="rId29" Type="http://customschemas.google.com/relationships/presentationmetadata" Target="metadata"/>  <Relationship Id="rId30" Type="http://schemas.openxmlformats.org/officeDocument/2006/relationships/slide" Target="slides/slide18.xml"/>
  <Relationship Id="rId31" Type="http://schemas.openxmlformats.org/officeDocument/2006/relationships/slide" Target="slides/slide19.xml"/>
  <Relationship Id="rId32" Type="http://schemas.openxmlformats.org/officeDocument/2006/relationships/slide" Target="slides/slide20.xml"/>
  <Relationship Id="rId33" Type="http://schemas.openxmlformats.org/officeDocument/2006/relationships/slide" Target="slides/slide21.xml"/>
  <Relationship Id="rId34" Type="http://schemas.openxmlformats.org/officeDocument/2006/relationships/slide" Target="slides/slide2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Неожиданный вывод №1: на пьедестале в основном не таланты.</a:t>
            </a:r>
          </a:p>
          <a:p>
            <a:pPr marL="0" indent="0">
              <a:buNone/>
            </a:pPr>
            <a:r>
              <a:rPr lang="ru-RU" sz="1200" dirty="0"/>
              <a:t>Берём ту же модель, что и раньше: 1000 участников, 10 талантов с p = 0,75 и 990 обычных с p = 0,6, тест из 20 вопросов. На графике — сколько человек в среднем набирает каждое число баллов, это N·C(n,k)·p^k·q^(n−k) (шкала логарифмическая). Каждый талант по отдельности сильнее, но обычных в 99 раз больше, и в призовой зоне (17 баллов и выше) их в среднем около 16 против двух-трёх талантов. Это и есть мем: пьедестал «выбирает» не десять сильных, а 990 лотерейных билетов.</a:t>
            </a:r>
          </a:p>
          <a:p>
            <a:pPr marL="0" indent="0">
              <a:buNone/>
            </a:pPr>
            <a:r>
              <a:rPr lang="ru-RU" sz="1200" dirty="0"/>
              <a:t>Точный расчёт через распределение максимума (ничьи — жребием): победитель оказывается обычным участником с вероятностью 0,74. Отдельный талант выигрывает в 35 раз чаще отдельного обычного участника, но этого не хватает, чтобы перевесить их численность. В топ-10 в среднем попадают лишь 1,5 таланта, остальные 8,5 остаются незамеченными.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Вывод №2: проклятие победителя. Победителем становится тот, кому повезло сильнее всех, поэтому его результат систематически завышает способности. Мы видим «19 из 20» и спрашиваем: это гений?</a:t>
            </a:r>
          </a:p>
          <a:p>
            <a:pPr marL="0" indent="0">
              <a:buNone/>
            </a:pPr>
            <a:r>
              <a:rPr lang="ru-RU" sz="1200" dirty="0"/>
              <a:t>При 20 вопросах победитель отвечает в среднем на 93% вопросов, а его настоящая вероятность правильного ответа в среднем всего 64%: ведь в трёх случаях из четырёх это обычный участник с p = 0,6.</a:t>
            </a:r>
          </a:p>
          <a:p>
            <a:pPr marL="0" indent="0">
              <a:buNone/>
            </a:pPr>
            <a:r>
              <a:rPr lang="ru-RU" sz="1200" dirty="0"/>
              <a:t>Откуда такой высокий балл? Даже если все 1000 участников одинаковы, лучший результат можно оценить по интегральной теореме Муавра–Лапласа: k_max ≈ np + z·√(npq), где z находим из условия 1 − Φ(z) = 1/N, то есть в среднем ровно один человек из N забирается так высоко. При p = 0,6 получаем 12 + 3,09·2,19 ≈ 18,8 из 20 — это 94% при способности 60% (точный расчёт даёт 18,4).</a:t>
            </a:r>
          </a:p>
          <a:p>
            <a:pPr marL="0" indent="0">
              <a:buNone/>
            </a:pPr>
            <a:r>
              <a:rPr lang="ru-RU" sz="1200" dirty="0"/>
              <a:t>На графике видно, что с ростом длины теста завышение тает: разброс доли верных ответов падает как √(pq/n). Но при 20 вопросах оно огромно.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Вывод №3: регрессия к среднему. Представим балл как способность плюс удача: X = np + ε, где удача в среднем нулевая.</a:t>
            </a:r>
          </a:p>
          <a:p>
            <a:pPr marL="0" indent="0">
              <a:buNone/>
            </a:pPr>
            <a:r>
              <a:rPr lang="ru-RU" sz="1200" dirty="0"/>
              <a:t>Отбирая лучших в первом туре, мы отбираем и способных, и везучих: у них ε₁ заметно больше нуля. Но во втором туре удача новая, и для тех же людей M(ε₂) = 0. Поэтому топ-10 в среднем падает с 17,5 до 12,4 балла, а победитель — с 18,6 до 12,8, почти до уровня обычного участника: был качком-доге, стал Чимсом.</a:t>
            </a:r>
          </a:p>
          <a:p>
            <a:pPr marL="0" indent="0">
              <a:buNone/>
            </a:pPr>
            <a:r>
              <a:rPr lang="ru-RU" sz="1200" dirty="0"/>
              <a:t>Победитель первого тура выигрывает и второй лишь в 0,7% случаев, хотя талантом он оказывается в 26% случаев. Это не «звёздная болезнь» и не расслабленность: так ведёт себя любая величина, в которой есть случайная часть. Если бы все участники были одинаковы, шанс повторной победы был бы ровно 1/1000.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Вывод №4: ошибка выжившего. 1000 трейдеров 10 дней угадывают направление рынка честной монеткой. Каждый день выбывает примерно половина, и в среднем 1000·2^(−10) ≈ 0,98 человека угадают все 10 дней; вероятность, что такой найдётся хотя бы один, — 0,62.</a:t>
            </a:r>
          </a:p>
          <a:p>
            <a:pPr marL="0" indent="0">
              <a:buNone/>
            </a:pPr>
            <a:r>
              <a:rPr lang="ru-RU" sz="1200" dirty="0"/>
              <a:t>Именно у него возьмут интервью о «безошибочной стратегии», а 999 остальных в кадр не попадут. Как с самолётами Вальда: пробоины мы видим только у вернувшихся, поэтому бронировать надо как раз те места, где дыр нет. Или бросившие университет, которые не стали миллиардерами.</a:t>
            </a:r>
          </a:p>
          <a:p>
            <a:pPr marL="0" indent="0">
              <a:buNone/>
            </a:pPr>
            <a:r>
              <a:rPr lang="ru-RU" sz="1200" dirty="0"/>
              <a:t>Добавим в группу одного настоящего таланта, который угадывает с вероятностью 0,75. По формуле Байеса шанс, что герой с результатом 10 из 10 — именно он, всего около 5%. Выдающийся результат, найденный среди множества попыток, почти ничего не доказывает.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200" dirty="0"/>
              <a:t>Главный вопрос. Наша модель показывает: результат одного испытания складывается из способностей и удачи, а доля удачи падает как 1/√n. Значит, победа — это свидетельство таланта, но не доказательство, а поражение — тем более не приговор.</a:t>
            </a:r>
          </a:p>
          <a:p>
            <a:pPr marL="0" indent="0">
              <a:buNone/>
            </a:pPr>
            <a:r>
              <a:rPr lang="ru-RU" sz="1200" dirty="0"/>
              <a:t>По нашему опыту: экзамен в один день похож на тест из 20 вопросов — одна неудачная задача может всё перевернуть. Накопительный рейтинг за семестр — это сотни «вопросов», и в нём удача усредняется. Регрессия к среднему успокаивает только тогда, когда есть второй шанс — отсюда мем про пересдачу.</a:t>
            </a:r>
          </a:p>
          <a:p>
            <a:pPr marL="0" indent="0">
              <a:buNone/>
            </a:pPr>
            <a:r>
              <a:rPr lang="ru-RU" sz="1200" dirty="0"/>
              <a:t>На наш взгляд, награждать победителей справедливо: результат реален, и стимул важен. Несправедливо делать по одной попытке выводы о человеке. Честная система — длинные испытания, несколько туров, право на пересдачу и оценка по сумме попыток.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4" name="Google Shape;44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50" name="Google Shape;50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0" name="Google Shape;60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61" name="Google Shape;61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6" name="Google Shape;66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67" name="Google Shape;67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68" name="Google Shape;68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69" name="Google Shape;69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76" name="Google Shape;76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77" name="Google Shape;77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78" name="Google Shape;78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82" name="Google Shape;82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83" name="Google Shape;83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0" name="Google Shape;130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1" name="Google Shape;131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jpg"/><Relationship Id="rId5" Type="http://schemas.openxmlformats.org/officeDocument/2006/relationships/image" Target="../media/image4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Relationship Id="rId4" Type="http://schemas.openxmlformats.org/officeDocument/2006/relationships/image" Target="../media/image51.jp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55.jp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2.png"/><Relationship Id="rId4" Type="http://schemas.openxmlformats.org/officeDocument/2006/relationships/image" Target="../media/image63.jpg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Кто на пьедестале?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1000 участников: 10 талантов (p = 0,75) и 990 обычных (p = 0,6), тест из 20 вопросов</a:t>
            </a:r>
          </a:p>
        </p:txBody>
      </p:sp>
      <p:pic>
        <p:nvPicPr>
          <p:cNvPr id="12" name="c1_podium.png" descr="Сколько человек в среднем набирает от 14 до 20 баллов: в призовой зоне обычных участников больше, чем таланто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1_drake.jpg" descr="Мем Drake: призовая зона отворачивается от 10 талантов с p = 0,75 и выбирает 990 обычных с p = 0,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517904"/>
            <a:ext cx="2103120" cy="2103120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74%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побед достаются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обычным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1,5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таланта из 10 в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топ-10</a:t>
            </a:r>
          </a:p>
        </p:txBody>
      </p:sp>
      <p:pic>
        <p:nvPicPr>
          <p:cNvPr id="20" name="f1_count.png" descr="M(число набравших k) = N·C(n,k)·p^k·q^(n−k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31920"/>
            <a:ext cx="3328416" cy="411480"/>
          </a:xfrm>
          <a:prstGeom prst="rect">
            <a:avLst/>
          </a:prstGeom>
        </p:spPr>
      </p:pic>
      <p:sp>
        <p:nvSpPr>
          <p:cNvPr id="21" name="Рамка 21"/>
          <p:cNvSpPr/>
          <p:nvPr/>
        </p:nvSpPr>
        <p:spPr>
          <a:xfrm>
            <a:off x="3931920" y="3749040"/>
            <a:ext cx="4572000" cy="77724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Число 22"/>
          <p:cNvSpPr txBox="1"/>
          <p:nvPr/>
        </p:nvSpPr>
        <p:spPr>
          <a:xfrm>
            <a:off x="4114800" y="3749040"/>
            <a:ext cx="1234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×35</a:t>
            </a:r>
          </a:p>
        </p:txBody>
      </p:sp>
      <p:sp>
        <p:nvSpPr>
          <p:cNvPr id="23" name="Пояснение 23"/>
          <p:cNvSpPr txBox="1"/>
          <p:nvPr/>
        </p:nvSpPr>
        <p:spPr>
          <a:xfrm>
            <a:off x="5394960" y="3822192"/>
            <a:ext cx="2926080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чаще побеждает </a:t>
            </a:r>
            <a:r>
              <a:rPr lang="ru-RU" sz="13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отдельный талант</a:t>
            </a:r>
            <a:r>
              <a:rPr lang="ru-RU" sz="13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, но обычных в 99 раз больше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Проклятие победителя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Победитель — это ещё и самый везучий, поэтому его балл завышает способности</a:t>
            </a:r>
          </a:p>
        </p:txBody>
      </p:sp>
      <p:pic>
        <p:nvPicPr>
          <p:cNvPr id="12" name="c2_curse.png" descr="Доля верных ответов у победителя и его настоящая способность в зависимости от длины теста: при 20 вопросах 93% против 64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2_pigeon.jpg" descr="Мем «Is this a pigeon?»: мы смотрим на результат 19 из 20 и спрашиваем: это гений?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625247"/>
            <a:ext cx="2103120" cy="1888435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93%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видим: балл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победителя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64%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на деле: его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способность</a:t>
            </a:r>
          </a:p>
        </p:txBody>
      </p:sp>
      <p:sp>
        <p:nvSpPr>
          <p:cNvPr id="20" name="Подпись 20"/>
          <p:cNvSpPr txBox="1"/>
          <p:nvPr/>
        </p:nvSpPr>
        <p:spPr>
          <a:xfrm>
            <a:off x="594360" y="374904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Муавр–Лаплас: лучший из 1000 одинаковых, p = 0,6</a:t>
            </a:r>
          </a:p>
        </p:txBody>
      </p:sp>
      <p:pic>
        <p:nvPicPr>
          <p:cNvPr id="21" name="f2_ml.png" descr="k_max ≈ np + z·√(npq), где 1 − Φ(z) = 1/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50208"/>
            <a:ext cx="3172968" cy="585216"/>
          </a:xfrm>
          <a:prstGeom prst="rect">
            <a:avLst/>
          </a:prstGeom>
        </p:spPr>
      </p:pic>
      <p:pic>
        <p:nvPicPr>
          <p:cNvPr id="22" name="f2_ml_num.png" descr="k_max ≈ 12 + 3,09·√4,8 ≈ 18,8 из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041648"/>
            <a:ext cx="3078480" cy="4145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Регрессия к среднему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Топ-10 первого тура пишет второй тест той же длины (средние по 100 000 симуляций)</a:t>
            </a:r>
          </a:p>
        </p:txBody>
      </p:sp>
      <p:pic>
        <p:nvPicPr>
          <p:cNvPr id="12" name="c3_regression.png" descr="Средний балл топ-10 в первом и втором туре: падение с 17,5 до 12,4, победитель — с 18,6 до 12,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3_doge.jpg" descr="Мем Buff Doge vs Cheems: победитель в первом туре и он же во втором тур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795103"/>
            <a:ext cx="2103120" cy="1548722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0,7%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выиграть снова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26%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шанс, что победитель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талант</a:t>
            </a:r>
          </a:p>
        </p:txBody>
      </p:sp>
      <p:sp>
        <p:nvSpPr>
          <p:cNvPr id="20" name="Текст 20"/>
          <p:cNvSpPr txBox="1"/>
          <p:nvPr/>
        </p:nvSpPr>
        <p:spPr>
          <a:xfrm>
            <a:off x="594360" y="374904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Балл = способность + удача</a:t>
            </a:r>
          </a:p>
        </p:txBody>
      </p:sp>
      <p:pic>
        <p:nvPicPr>
          <p:cNvPr id="21" name="f3_reg.png" descr="X = np + ε, Mε =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41648"/>
            <a:ext cx="1984248" cy="393192"/>
          </a:xfrm>
          <a:prstGeom prst="rect">
            <a:avLst/>
          </a:prstGeom>
        </p:spPr>
      </p:pic>
      <p:pic>
        <p:nvPicPr>
          <p:cNvPr id="22" name="f3_reg2.png" descr="M(ε₁ | победил) &gt; 0, M(ε₂ | победил) = 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041648"/>
            <a:ext cx="352348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Ошибка выжившего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1000 трейдеров 10 дней подряд угадывают рынок, подбрасывая честную монетку</a:t>
            </a:r>
          </a:p>
        </p:txBody>
      </p:sp>
      <p:pic>
        <p:nvPicPr>
          <p:cNvPr id="12" name="c4_traders.png" descr="Сколько трейдеров угадали все дни подряд: 1000, 500, 250, … и к десятому дню в среднем 0,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246120" cy="2194560"/>
          </a:xfrm>
          <a:prstGeom prst="rect">
            <a:avLst/>
          </a:prstGeom>
        </p:spPr>
      </p:pic>
      <p:pic>
        <p:nvPicPr>
          <p:cNvPr id="13" name="m4_plane.png" descr="Самолёт Вальда: пробоины видны только у вернувшихся самолётов, бронировать нужно там, где дыр не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482852"/>
            <a:ext cx="2103120" cy="2173224"/>
          </a:xfrm>
          <a:prstGeom prst="rect">
            <a:avLst/>
          </a:prstGeom>
        </p:spPr>
      </p:pic>
      <p:sp>
        <p:nvSpPr>
          <p:cNvPr id="14" name="Рамка 14"/>
          <p:cNvSpPr/>
          <p:nvPr/>
        </p:nvSpPr>
        <p:spPr>
          <a:xfrm>
            <a:off x="6217920" y="1481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Число 15"/>
          <p:cNvSpPr txBox="1"/>
          <p:nvPr/>
        </p:nvSpPr>
        <p:spPr>
          <a:xfrm>
            <a:off x="6327648" y="1572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0,62</a:t>
            </a:r>
          </a:p>
        </p:txBody>
      </p:sp>
      <p:sp>
        <p:nvSpPr>
          <p:cNvPr id="16" name="Пояснение 16"/>
          <p:cNvSpPr txBox="1"/>
          <p:nvPr/>
        </p:nvSpPr>
        <p:spPr>
          <a:xfrm>
            <a:off x="6355080" y="2057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шанс, что найдётся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«гений» 10 из 10</a:t>
            </a:r>
          </a:p>
        </p:txBody>
      </p:sp>
      <p:sp>
        <p:nvSpPr>
          <p:cNvPr id="17" name="Рамка 17"/>
          <p:cNvSpPr/>
          <p:nvPr/>
        </p:nvSpPr>
        <p:spPr>
          <a:xfrm>
            <a:off x="6217920" y="2624328"/>
            <a:ext cx="2286000" cy="103327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Число 18"/>
          <p:cNvSpPr txBox="1"/>
          <p:nvPr/>
        </p:nvSpPr>
        <p:spPr>
          <a:xfrm>
            <a:off x="6327648" y="271576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5%</a:t>
            </a:r>
          </a:p>
        </p:txBody>
      </p:sp>
      <p:sp>
        <p:nvSpPr>
          <p:cNvPr id="19" name="Пояснение 19"/>
          <p:cNvSpPr txBox="1"/>
          <p:nvPr/>
        </p:nvSpPr>
        <p:spPr>
          <a:xfrm>
            <a:off x="6355080" y="3200400"/>
            <a:ext cx="201168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шанс, что «гений»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настоящий талант</a:t>
            </a:r>
          </a:p>
        </p:txBody>
      </p:sp>
      <p:sp>
        <p:nvSpPr>
          <p:cNvPr id="20" name="Подпись 20"/>
          <p:cNvSpPr txBox="1"/>
          <p:nvPr/>
        </p:nvSpPr>
        <p:spPr>
          <a:xfrm>
            <a:off x="594360" y="37490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X — число «гениев» среди 1000 монеток</a:t>
            </a:r>
          </a:p>
        </p:txBody>
      </p:sp>
      <p:pic>
        <p:nvPicPr>
          <p:cNvPr id="21" name="f4_atleast.png" descr="P(X ≥ 1) = 1 − (1 − 2^(−10))^1000 ≈ 0,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41648"/>
            <a:ext cx="2916936" cy="393192"/>
          </a:xfrm>
          <a:prstGeom prst="rect">
            <a:avLst/>
          </a:prstGeom>
        </p:spPr>
      </p:pic>
      <p:sp>
        <p:nvSpPr>
          <p:cNvPr id="22" name="Подпись 22"/>
          <p:cNvSpPr txBox="1"/>
          <p:nvPr/>
        </p:nvSpPr>
        <p:spPr>
          <a:xfrm>
            <a:off x="3931920" y="37490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Если среди них есть один талант с p = 0,75:</a:t>
            </a:r>
          </a:p>
        </p:txBody>
      </p:sp>
      <p:pic>
        <p:nvPicPr>
          <p:cNvPr id="23" name="f4_bayes.png" descr="P(талант | 10 из 10) = 0,75^10 / (0,75^10 + 999·2^(−10)) ≈ 0,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3931920"/>
            <a:ext cx="3956304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/>
              <a:t>Так судить ли победителей?</a:t>
            </a:r>
          </a:p>
        </p:txBody>
      </p:sp>
      <p:sp>
        <p:nvSpPr>
          <p:cNvPr id="11" name="Подзаголовок 11"/>
          <p:cNvSpPr txBox="1"/>
          <p:nvPr/>
        </p:nvSpPr>
        <p:spPr>
          <a:xfrm>
            <a:off x="594360" y="11612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dirty="0">
                <a:solidFill>
                  <a:srgbClr val="5E5A66"/>
                </a:solidFill>
                <a:latin typeface="Golos Text"/>
                <a:ea typeface="Golos Text"/>
                <a:cs typeface="Golos Text"/>
                <a:sym typeface="Golos Text"/>
              </a:rPr>
              <a:t>Главный вопрос: честно ли награждать победителей и считать проигравших менее достойными?</a:t>
            </a:r>
          </a:p>
        </p:txBody>
      </p:sp>
      <p:sp>
        <p:nvSpPr>
          <p:cNvPr id="12" name="Рамка 12"/>
          <p:cNvSpPr/>
          <p:nvPr/>
        </p:nvSpPr>
        <p:spPr>
          <a:xfrm>
            <a:off x="594360" y="1508760"/>
            <a:ext cx="1874520" cy="2240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Текст 13"/>
          <p:cNvSpPr txBox="1"/>
          <p:nvPr/>
        </p:nvSpPr>
        <p:spPr>
          <a:xfrm>
            <a:off x="758952" y="164592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Модель</a:t>
            </a:r>
          </a:p>
        </p:txBody>
      </p:sp>
      <p:sp>
        <p:nvSpPr>
          <p:cNvPr id="14" name="Рамка 14"/>
          <p:cNvSpPr/>
          <p:nvPr/>
        </p:nvSpPr>
        <p:spPr>
          <a:xfrm>
            <a:off x="2606040" y="1508760"/>
            <a:ext cx="1874520" cy="2240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Текст 15"/>
          <p:cNvSpPr txBox="1"/>
          <p:nvPr/>
        </p:nvSpPr>
        <p:spPr>
          <a:xfrm>
            <a:off x="2770632" y="164592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Наш опыт</a:t>
            </a:r>
          </a:p>
        </p:txBody>
      </p:sp>
      <p:sp>
        <p:nvSpPr>
          <p:cNvPr id="16" name="Рамка 16"/>
          <p:cNvSpPr/>
          <p:nvPr/>
        </p:nvSpPr>
        <p:spPr>
          <a:xfrm>
            <a:off x="4617720" y="1508760"/>
            <a:ext cx="1874520" cy="22402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9307F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Текст 17"/>
          <p:cNvSpPr txBox="1"/>
          <p:nvPr/>
        </p:nvSpPr>
        <p:spPr>
          <a:xfrm>
            <a:off x="4782312" y="164592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307FE"/>
                </a:solidFill>
                <a:latin typeface="Golos Text"/>
                <a:ea typeface="Golos Text"/>
                <a:cs typeface="Golos Text"/>
                <a:sym typeface="Golos Text"/>
              </a:rPr>
              <a:t>Как честнее</a:t>
            </a:r>
          </a:p>
        </p:txBody>
      </p:sp>
      <p:pic>
        <p:nvPicPr>
          <p:cNvPr id="18" name="f5_sigma.png" descr="σ(X/n) = √(pq/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11680"/>
            <a:ext cx="1187806" cy="548640"/>
          </a:xfrm>
          <a:prstGeom prst="rect">
            <a:avLst/>
          </a:prstGeom>
        </p:spPr>
      </p:pic>
      <p:sp>
        <p:nvSpPr>
          <p:cNvPr id="19" name="Текст 19"/>
          <p:cNvSpPr txBox="1"/>
          <p:nvPr/>
        </p:nvSpPr>
        <p:spPr>
          <a:xfrm>
            <a:off x="758952" y="2697480"/>
            <a:ext cx="154533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Короче испытание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больше удачи</a:t>
            </a: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в итоге</a:t>
            </a:r>
          </a:p>
        </p:txBody>
      </p:sp>
      <p:sp>
        <p:nvSpPr>
          <p:cNvPr id="20" name="Текст 20"/>
          <p:cNvSpPr txBox="1"/>
          <p:nvPr/>
        </p:nvSpPr>
        <p:spPr>
          <a:xfrm>
            <a:off x="2770632" y="2011680"/>
            <a:ext cx="154533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Экзамен за день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короткий</a:t>
            </a: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 тест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Рейтинг за семестр — </a:t>
            </a:r>
            <a:r>
              <a:rPr lang="ru-RU" sz="1200" b="1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длинный</a:t>
            </a:r>
          </a:p>
        </p:txBody>
      </p:sp>
      <p:sp>
        <p:nvSpPr>
          <p:cNvPr id="21" name="Текст 21"/>
          <p:cNvSpPr txBox="1"/>
          <p:nvPr/>
        </p:nvSpPr>
        <p:spPr>
          <a:xfrm>
            <a:off x="4782312" y="2011680"/>
            <a:ext cx="154533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длинные тесты</a:t>
            </a:r>
          </a:p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несколько туров</a:t>
            </a:r>
          </a:p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пересдачи</a:t>
            </a:r>
          </a:p>
          <a:p>
            <a:pPr marL="22860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07FE"/>
              </a:buClr>
              <a:buFont typeface="Arial"/>
              <a:buChar char="•"/>
            </a:pPr>
            <a:r>
              <a:rPr lang="ru-RU" sz="12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сумма попыток</a:t>
            </a:r>
          </a:p>
        </p:txBody>
      </p:sp>
      <p:pic>
        <p:nvPicPr>
          <p:cNvPr id="22" name="m5_panik.jpg" descr="Мем Panik–Kalm–Panik: завалил экзамен; вспомнил про регрессию к среднему; пересдачи не буде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28" y="1508760"/>
            <a:ext cx="1887192" cy="2240280"/>
          </a:xfrm>
          <a:prstGeom prst="rect">
            <a:avLst/>
          </a:prstGeom>
        </p:spPr>
      </p:pic>
      <p:sp>
        <p:nvSpPr>
          <p:cNvPr id="23" name="Рамка 23"/>
          <p:cNvSpPr/>
          <p:nvPr/>
        </p:nvSpPr>
        <p:spPr>
          <a:xfrm>
            <a:off x="594360" y="3904488"/>
            <a:ext cx="7909560" cy="621792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FF3E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4" name="Текст 24"/>
          <p:cNvSpPr txBox="1"/>
          <p:nvPr/>
        </p:nvSpPr>
        <p:spPr>
          <a:xfrm>
            <a:off x="777240" y="3904488"/>
            <a:ext cx="75438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A1A1A"/>
                </a:solidFill>
                <a:latin typeface="Golos Text"/>
                <a:ea typeface="Golos Text"/>
                <a:cs typeface="Golos Text"/>
                <a:sym typeface="Golos Text"/>
              </a:rPr>
              <a:t>Наградить победителя — можно. Списать проигравшего по одной попытке — </a:t>
            </a:r>
            <a:r>
              <a:rPr lang="ru-RU" sz="1400" b="1" i="0" dirty="0">
                <a:solidFill>
                  <a:srgbClr val="FF3E35"/>
                </a:solidFill>
                <a:latin typeface="Golos Text"/>
                <a:ea typeface="Golos Text"/>
                <a:cs typeface="Golos Text"/>
                <a:sym typeface="Golos Text"/>
              </a:rPr>
              <a:t>нельзя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